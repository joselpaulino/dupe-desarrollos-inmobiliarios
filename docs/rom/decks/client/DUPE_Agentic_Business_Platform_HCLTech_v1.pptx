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lucid-trusting-edison/mnt/dupe/docs/rom/decks/titl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47472" y="2011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2000" b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1847088" y="2011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47472" y="1170432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DUPE Desarrollos Inmobiliarios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347472" y="1755648"/>
            <a:ext cx="7772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Business Platform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47472" y="2304288"/>
            <a:ext cx="3657600" cy="50292"/>
          </a:xfrm>
          <a:prstGeom prst="rect">
            <a:avLst/>
          </a:prstGeom>
          <a:solidFill>
            <a:srgbClr val="8CC8FA"/>
          </a:solidFill>
          <a:ln w="12700">
            <a:solidFill>
              <a:srgbClr val="8CC8F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7472" y="2432304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architecture and ROM estimate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7472" y="2926080"/>
            <a:ext cx="4023360" cy="1024128"/>
          </a:xfrm>
          <a:prstGeom prst="roundRect">
            <a:avLst>
              <a:gd name="adj" fmla="val 7143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A72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2980944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 ESTIMATE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457200" y="3163824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2231136" y="32004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days  ·  ~7–8 elapsed weeks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3-role agentic pod  ·  MVP Solution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47472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Jose Paulino · Senior AI Solution Architect, HCLTech AI Labs  ·  June 2026  ·  CONFIDENTIAL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modules. One agentic platform. Zero manual chasing.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" y="1207008"/>
            <a:ext cx="8631936" cy="694944"/>
          </a:xfrm>
          <a:prstGeom prst="rect">
            <a:avLst/>
          </a:prstGeom>
          <a:solidFill>
            <a:srgbClr val="2D1870"/>
          </a:solidFill>
          <a:ln w="15240">
            <a:solidFill>
              <a:srgbClr val="5F1E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1207008"/>
            <a:ext cx="64008" cy="694944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2336" y="1243584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manage everything in Excel — budgets, cash flow, collections — and there is no real-time visibility into our projects."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56032" y="1975104"/>
            <a:ext cx="2944368" cy="256032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" y="197510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Today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6032" y="22677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6032" y="2267712"/>
            <a:ext cx="45720" cy="438912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22860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Budget &amp; cash flow tracked in disconnected Excel workbooks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56032" y="2724912"/>
            <a:ext cx="2944368" cy="438912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2724912"/>
            <a:ext cx="45720" cy="438912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27432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Bank reconciliation is 100% manual — transactions assigned by hand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56032" y="31821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3182112"/>
            <a:ext cx="45720" cy="438912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32004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Collections officers track due dates individually and send messages manually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6032" y="3639312"/>
            <a:ext cx="2944368" cy="438912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" y="3639312"/>
            <a:ext cx="45720" cy="438912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36576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No automated delinquency escalation to management or legal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6032" y="40965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6032" y="4096512"/>
            <a:ext cx="45720" cy="438912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7472" y="41148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Weekly management report compiled manually from multiple spreadsheets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73552" y="1975104"/>
            <a:ext cx="2944368" cy="256032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46704" y="197510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Approach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73552" y="22677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73552" y="2267712"/>
            <a:ext cx="45720" cy="438912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64992" y="22860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Orchestrator coordinates Finance + Collections modules end-to-end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73552" y="2724912"/>
            <a:ext cx="2944368" cy="438912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73552" y="2724912"/>
            <a:ext cx="45720" cy="438912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64992" y="27432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Reconciliation Agent auto-matches bank transactions with rule learning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73552" y="31821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73552" y="3182112"/>
            <a:ext cx="45720" cy="438912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64992" y="32004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Collections Notification Agent dispatches WhatsApp + email on schedule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273552" y="3639312"/>
            <a:ext cx="2944368" cy="438912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73552" y="3639312"/>
            <a:ext cx="45720" cy="438912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64992" y="36576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Escalation logic at Day +1, +6, and +16 overdue — no manual tracking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273552" y="40965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73552" y="4096512"/>
            <a:ext cx="45720" cy="438912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64992" y="41148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Reporting Agent compiles and sends weekly PDF report automatically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291072" y="1975104"/>
            <a:ext cx="2944368" cy="25603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64224" y="197510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Delivered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291072" y="22677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91072" y="2267712"/>
            <a:ext cx="4572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2512" y="22860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Officer time freed from manual data entry to exception review only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291072" y="2724912"/>
            <a:ext cx="2944368" cy="438912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91072" y="2724912"/>
            <a:ext cx="4572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2512" y="27432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90%+ transaction auto-match target from learned reconciliation rules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291072" y="31821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91072" y="3182112"/>
            <a:ext cx="4572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82512" y="32004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Zero missed payment reminders — every installment tracked automatically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291072" y="3639312"/>
            <a:ext cx="2944368" cy="438912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1072" y="3639312"/>
            <a:ext cx="4572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82512" y="36576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Management notified before portfolio health deteriorates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291072" y="4096512"/>
            <a:ext cx="2944368" cy="43891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91072" y="4096512"/>
            <a:ext cx="45720" cy="43891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114800"/>
            <a:ext cx="2788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Real-time executive dashboard replaces end-of-week report compilation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256032" y="4553712"/>
            <a:ext cx="201168" cy="219456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47472" y="46725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Story  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1298448" y="4672584"/>
            <a:ext cx="7406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DUPE finance officer, I want the system to reconcile bank transactions and send payment reminders automatically so that I can focus on exceptions and client relationships.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Process Flow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source to business output — build vs. wrap boundaries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1115568"/>
            <a:ext cx="8814816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Architecture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7-layer hexagonal design — domain isolated from frameworks and databases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078992"/>
            <a:ext cx="89611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Orchestration Model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agents invoked as callable tools by the Orchestrator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1097280"/>
            <a:ext cx="4315968" cy="31089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5152" y="1097280"/>
            <a:ext cx="4169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Responsibilities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0" y="1444752"/>
            <a:ext cx="4315968" cy="50292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444752"/>
            <a:ext cx="45720" cy="502920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1463040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9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 Agent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645152" y="16459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Auto-matches bank transactions to budget partidas; scores confidence; builds rule store from officer-accepted matches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0" y="1975104"/>
            <a:ext cx="4315968" cy="50292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0" y="1975104"/>
            <a:ext cx="45720" cy="50292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45152" y="1993392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C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 Notification Agent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45152" y="217627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Scans payment plans daily; dispatches WhatsApp + email notifications; captures delivery status and client replies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572000" y="2505456"/>
            <a:ext cx="4315968" cy="50292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2505456"/>
            <a:ext cx="45720" cy="502920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45152" y="2523744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Intelligence Agent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45152" y="2706624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Monitors budget execution vs. projected; computes deviation metrics; raises traffic-light alerts on dashboard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572000" y="3035808"/>
            <a:ext cx="4315968" cy="50292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3035808"/>
            <a:ext cx="45720" cy="502920"/>
          </a:xfrm>
          <a:prstGeom prst="rect">
            <a:avLst/>
          </a:prstGeom>
          <a:solidFill>
            <a:srgbClr val="FFA726"/>
          </a:solidFill>
          <a:ln w="12700">
            <a:solidFill>
              <a:srgbClr val="FFA7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45152" y="3054096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Agent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645152" y="3236976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Compiles weekly management PDF report; generates Balance General, Estado de Resultados, Flujo de Efectivo on demand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572000" y="3566160"/>
            <a:ext cx="4315968" cy="50292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3566160"/>
            <a:ext cx="45720" cy="50292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3584448"/>
            <a:ext cx="4160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Router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45152" y="3767328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officer dashboard alerts at Day +1, management notifications at Day +6, legal referral flag at Day +16 overdue</a:t>
            </a:r>
            <a:endParaRPr lang="en-US" sz="75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097280"/>
            <a:ext cx="4315968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Architecture — Data Flow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specialist agent operates in its lane; artifacts hand off through the Orchestrator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1097280"/>
            <a:ext cx="8869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 Agent Responsibilities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agent has a defined role, bounded tools, and structured output schema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" y="1170432"/>
            <a:ext cx="2157984" cy="274320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" y="1170432"/>
            <a:ext cx="2084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87168" y="1170432"/>
            <a:ext cx="3255264" cy="274320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1170432"/>
            <a:ext cx="3182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/ Purpose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15584" y="1170432"/>
            <a:ext cx="3035808" cy="274320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88736" y="1170432"/>
            <a:ext cx="2962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Outputs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6032" y="1481328"/>
            <a:ext cx="8631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1481328"/>
            <a:ext cx="45720" cy="457200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" y="1508760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487168" y="1508760"/>
            <a:ext cx="32552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 workflow state for both modules; routes events to specialist agents; manages exception queues and audit trail.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815584" y="150876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transitions, agent schedule, exception routing, audit log.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56032" y="1956816"/>
            <a:ext cx="8631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1956816"/>
            <a:ext cx="45720" cy="457200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" y="198424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9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Reconciliation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3C9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487168" y="1984248"/>
            <a:ext cx="32552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uploaded bank statement files; scores transaction-to-partida match confidence; routes low-confidence items to officer queue; learns from officer decisions.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815584" y="1984248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decisions, exception queue, updated rule store.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6032" y="2432304"/>
            <a:ext cx="8631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6032" y="2432304"/>
            <a:ext cx="45720" cy="45720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" y="2459736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C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00C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 Agent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487168" y="2459736"/>
            <a:ext cx="32552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payment plan schedules daily; determines which notifications are due (pre-due, overdue); dispatches WhatsApp + email; logs delivery and read status.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815584" y="2459736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notifications, delivery receipts, two-way message log.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56032" y="2907792"/>
            <a:ext cx="8631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6032" y="2907792"/>
            <a:ext cx="45720" cy="457200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" y="2935224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Agent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2487168" y="2935224"/>
            <a:ext cx="32552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Compares executed spend and income vs. projected budget and cash flow; computes deviation metrics; assigns traffic-light status per partida.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815584" y="2935224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KPIs, partida alerts, deficit forecasts, milestone alerts.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56032" y="3383280"/>
            <a:ext cx="8631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6032" y="3383280"/>
            <a:ext cx="45720" cy="45720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" y="3410712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EF53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487168" y="3410712"/>
            <a:ext cx="32552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Monitors overdue installment age; triggers escalation at defined thresholds: officer dashboard (Day +1), management notification (Day +6), legal flag (Day +16).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815584" y="3410712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events, management alerts, legal referral flags.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56032" y="3858768"/>
            <a:ext cx="8631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6032" y="3858768"/>
            <a:ext cx="45720" cy="457200"/>
          </a:xfrm>
          <a:prstGeom prst="rect">
            <a:avLst/>
          </a:prstGeom>
          <a:solidFill>
            <a:srgbClr val="FFA726"/>
          </a:solidFill>
          <a:ln w="12700">
            <a:solidFill>
              <a:srgbClr val="FFA72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9184" y="3886200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487168" y="3886200"/>
            <a:ext cx="32552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Assembles financial statements and weekly management report from structured data; formats and dispatches PDF on schedule or on demand.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5815584" y="38862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PDF report, Balance General, Estado de Resultados, Flujo de Efectivo.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Validation Step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this slide with engagement-specific content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Deep-dive diagram for: Required Validation Step ]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this slide with the specific SVG diagram or content for your engagement.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references/deck-structure.md for what each slide should contain.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Costing Tool Adapter Layer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this slide with engagement-specific content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Deep-dive diagram for: Should Costing Tool Adapter Layer ]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this slide with the specific SVG diagram or content for your engagement.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references/deck-structure.md for what each slide should contain.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Scripting, Mapping, and Output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this slide with engagement-specific content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Deep-dive diagram for: AI Scripting, Mapping, and Output ]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this slide with the specific SVG diagram or content for your engagement.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references/deck-structure.md for what each slide should contain.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Orchestration Workflow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this slide with engagement-specific content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Deep-dive diagram for: Controlled Orchestration Workflow ]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 this slide with the specific SVG diagram or content for your engagement.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references/deck-structure.md for what each slide should contain.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vs. Wrap — Scope Boundary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HCLTech builds the agentic control layer; enterprise tools are wrapped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" y="1170432"/>
            <a:ext cx="4151376" cy="292608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1170432"/>
            <a:ext cx="3968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HCLTech Develops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" y="1499616"/>
            <a:ext cx="4151376" cy="36576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" y="1499616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17904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Agentic Orchestrator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6032" y="1883664"/>
            <a:ext cx="4151376" cy="36576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6032" y="1883664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90195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Reconciliation Agent + Rule Store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56032" y="2267712"/>
            <a:ext cx="4151376" cy="36576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2267712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286000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Collections Notification Agent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56032" y="2651760"/>
            <a:ext cx="4151376" cy="36576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2651760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670048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Financial Intelligence Agent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6032" y="3035808"/>
            <a:ext cx="4151376" cy="36576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" y="3035808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054096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Escalation Router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6032" y="3419856"/>
            <a:ext cx="4151376" cy="36576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6032" y="3419856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38144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Reporting Agent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56032" y="3803904"/>
            <a:ext cx="4151376" cy="36576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6032" y="3803904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82219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Bank Statement Parser (deterministic)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56032" y="4187952"/>
            <a:ext cx="4151376" cy="36576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6032" y="4187952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206240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Multi-tenant PostgreSQL data store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56032" y="4572000"/>
            <a:ext cx="4151376" cy="36576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6032" y="4572000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590288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Role-based dashboards (officer + management)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56032" y="4956048"/>
            <a:ext cx="4151376" cy="36576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6032" y="4956048"/>
            <a:ext cx="45720" cy="36576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974336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Audit / lineage store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645152" y="1170432"/>
            <a:ext cx="4151376" cy="292608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36592" y="1170432"/>
            <a:ext cx="3968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— Orchestrated via Tool Adapters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45152" y="1499616"/>
            <a:ext cx="4151376" cy="36576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45152" y="1499616"/>
            <a:ext cx="45720" cy="365760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54880" y="1517904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WhatsApp Business API (Meta Cloud)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645152" y="1883664"/>
            <a:ext cx="4151376" cy="36576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45152" y="1883664"/>
            <a:ext cx="45720" cy="365760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54880" y="1901952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Transactional Email (SendGrid)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645152" y="2267712"/>
            <a:ext cx="4151376" cy="36576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45152" y="2267712"/>
            <a:ext cx="45720" cy="365760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2286000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Bank netbanking (manual CSV/TXT upload)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645152" y="2651760"/>
            <a:ext cx="4151376" cy="36576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45152" y="2651760"/>
            <a:ext cx="45720" cy="365760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0" y="2670048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PDF / Excel generation libraries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645152" y="3035808"/>
            <a:ext cx="4151376" cy="36576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645152" y="3035808"/>
            <a:ext cx="45720" cy="365760"/>
          </a:xfrm>
          <a:prstGeom prst="rect">
            <a:avLst/>
          </a:prstGeom>
          <a:solidFill>
            <a:srgbClr val="3C91FF"/>
          </a:solidFill>
          <a:ln w="12700">
            <a:solidFill>
              <a:srgbClr val="3C91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54880" y="3054096"/>
            <a:ext cx="39502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DR bank statement file formats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453128" y="1115568"/>
            <a:ext cx="54864" cy="3566160"/>
          </a:xfrm>
          <a:prstGeom prst="rect">
            <a:avLst/>
          </a:prstGeom>
          <a:solidFill>
            <a:srgbClr val="2D1870"/>
          </a:solidFill>
          <a:ln w="12700">
            <a:solidFill>
              <a:srgbClr val="2D187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56032" y="4480560"/>
            <a:ext cx="41513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00C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HCLTech builds this boundary →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4645152" y="4480560"/>
            <a:ext cx="41513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3C9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These are orchestrated, not replaced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 Estimate — MVP Solution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 pod days  ·  ~7–8 elapsed weeks  ·  3-role agentic pod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" y="1170432"/>
            <a:ext cx="2084832" cy="1133856"/>
          </a:xfrm>
          <a:prstGeom prst="roundRect">
            <a:avLst>
              <a:gd name="adj" fmla="val 6452"/>
            </a:avLst>
          </a:prstGeom>
          <a:solidFill>
            <a:srgbClr val="1E0D4A"/>
          </a:solidFill>
          <a:ln w="19050">
            <a:solidFill>
              <a:srgbClr val="FFA7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" y="1225296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56032" y="1883664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Pod Days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468880" y="1170432"/>
            <a:ext cx="2084832" cy="1133856"/>
          </a:xfrm>
          <a:prstGeom prst="roundRect">
            <a:avLst>
              <a:gd name="adj" fmla="val 6452"/>
            </a:avLst>
          </a:prstGeom>
          <a:solidFill>
            <a:srgbClr val="1E0D4A"/>
          </a:solidFill>
          <a:ln w="19050">
            <a:solidFill>
              <a:srgbClr val="8CC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1225296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CC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~7–8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2468880" y="1883664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Weeks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81728" y="1170432"/>
            <a:ext cx="2084832" cy="1133856"/>
          </a:xfrm>
          <a:prstGeom prst="roundRect">
            <a:avLst>
              <a:gd name="adj" fmla="val 6452"/>
            </a:avLst>
          </a:prstGeom>
          <a:solidFill>
            <a:srgbClr val="1E0D4A"/>
          </a:solidFill>
          <a:ln w="19050">
            <a:solidFill>
              <a:srgbClr val="00C85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1728" y="1225296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C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3-role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681728" y="1883664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Pod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894576" y="1170432"/>
            <a:ext cx="2084832" cy="1133856"/>
          </a:xfrm>
          <a:prstGeom prst="roundRect">
            <a:avLst>
              <a:gd name="adj" fmla="val 6452"/>
            </a:avLst>
          </a:prstGeom>
          <a:solidFill>
            <a:srgbClr val="1E0D4A"/>
          </a:solidFill>
          <a:ln w="19050">
            <a:solidFill>
              <a:srgbClr val="5F1E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4576" y="1225296"/>
            <a:ext cx="20848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+3–5 pod days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894576" y="1883664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Complexity Triggered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56032" y="2432304"/>
            <a:ext cx="6766560" cy="237744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" y="243230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394960" y="2432304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56032" y="2688336"/>
            <a:ext cx="6766560" cy="25603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" y="2706624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Gravel track — environment, schema, CI/CD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394960" y="2706624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C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56032" y="2962656"/>
            <a:ext cx="6766560" cy="256032"/>
          </a:xfrm>
          <a:prstGeom prst="rect">
            <a:avLst/>
          </a:prstGeom>
          <a:solidFill>
            <a:srgbClr val="2D1870"/>
          </a:solidFill>
          <a:ln w="12700">
            <a:solidFill>
              <a:srgbClr val="2D18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" y="2980944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Module — budget, cash flow, reconciliation, accounting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394960" y="2980944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56032" y="3236976"/>
            <a:ext cx="6766560" cy="25603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" y="3255264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 Module — payment plans, notifications, escalation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394960" y="3255264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56032" y="3511296"/>
            <a:ext cx="6766560" cy="256032"/>
          </a:xfrm>
          <a:prstGeom prst="rect">
            <a:avLst/>
          </a:prstGeom>
          <a:solidFill>
            <a:srgbClr val="2D1870"/>
          </a:solidFill>
          <a:ln w="12700">
            <a:solidFill>
              <a:srgbClr val="2D187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184" y="3529584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 — officer queue, mgmt portal, financial statements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394960" y="3529584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56032" y="3785616"/>
            <a:ext cx="6766560" cy="256032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" y="3803904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wrappers — bank parser, WhatsApp, email, PDF/Excel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394960" y="3803904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C8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56032" y="4059936"/>
            <a:ext cx="6766560" cy="256032"/>
          </a:xfrm>
          <a:prstGeom prst="rect">
            <a:avLst/>
          </a:prstGeom>
          <a:solidFill>
            <a:srgbClr val="2D1870"/>
          </a:solidFill>
          <a:ln w="12700">
            <a:solidFill>
              <a:srgbClr val="2D187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" y="4078224"/>
            <a:ext cx="49743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Validation, testing, SME review, demo hardening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394960" y="4078224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256032" y="4334256"/>
            <a:ext cx="6766560" cy="274320"/>
          </a:xfrm>
          <a:prstGeom prst="rect">
            <a:avLst/>
          </a:prstGeom>
          <a:solidFill>
            <a:srgbClr val="3D2490"/>
          </a:solidFill>
          <a:ln w="10160">
            <a:solidFill>
              <a:srgbClr val="FFA7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9184" y="4352544"/>
            <a:ext cx="4974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MVP Baseline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394960" y="4352544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14–18 full pod days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56032" y="4663440"/>
            <a:ext cx="8631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 basis: one bounded MVP Solution path · agentic pod commercial unit · not a production commitment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12801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indent="0" marL="0">
              <a:buNone/>
            </a:pPr>
            <a:r>
              <a:rPr lang="en-US" sz="1600" b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664208" y="128016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Supercharging Progress™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56032" y="512064"/>
            <a:ext cx="50292" cy="585216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93776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and Decisions Needed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69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to confirm before MVP Solution sprint planning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974336"/>
            <a:ext cx="9144000" cy="173736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69764"/>
            <a:ext cx="3017520" cy="10973"/>
          </a:xfrm>
          <a:prstGeom prst="rect">
            <a:avLst/>
          </a:prstGeom>
          <a:solidFill>
            <a:srgbClr val="5F1EBE"/>
          </a:solidFill>
          <a:ln w="12700">
            <a:solidFill>
              <a:srgbClr val="5F1E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4969764"/>
            <a:ext cx="3108960" cy="10973"/>
          </a:xfrm>
          <a:prstGeom prst="rect">
            <a:avLst/>
          </a:prstGeom>
          <a:solidFill>
            <a:srgbClr val="0F5FDC"/>
          </a:solidFill>
          <a:ln w="12700">
            <a:solidFill>
              <a:srgbClr val="0F5F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4969764"/>
            <a:ext cx="3017520" cy="10973"/>
          </a:xfrm>
          <a:prstGeom prst="rect">
            <a:avLst/>
          </a:prstGeom>
          <a:solidFill>
            <a:srgbClr val="8C69F0"/>
          </a:solidFill>
          <a:ln w="12700">
            <a:solidFill>
              <a:srgbClr val="8C69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" y="4983480"/>
            <a:ext cx="274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30352" y="498348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7B9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Copyright © 2026 HCLTech  |  Confidential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8092440" y="4974336"/>
            <a:ext cx="91440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5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pPr algn="r" indent="0" marL="0">
              <a:buNone/>
            </a:pPr>
            <a:r>
              <a:rPr lang="en-US" sz="1100" b="1" dirty="0">
                <a:solidFill>
                  <a:srgbClr val="5F1E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" y="1170432"/>
            <a:ext cx="4059936" cy="274320"/>
          </a:xfrm>
          <a:prstGeom prst="rect">
            <a:avLst/>
          </a:prstGeom>
          <a:solidFill>
            <a:srgbClr val="1E0D4A"/>
          </a:solidFill>
          <a:ln w="15240">
            <a:solidFill>
              <a:srgbClr val="00C8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1170432"/>
            <a:ext cx="54864" cy="27432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170432"/>
            <a:ext cx="3877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C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56032" y="1481328"/>
            <a:ext cx="4059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1508760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Bank statements available as CSV/TXT download from DR netbanking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6032" y="1975104"/>
            <a:ext cx="4059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2002536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Single WhatsApp Business number used across all projects (recommended)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56032" y="2468880"/>
            <a:ext cx="4059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2496312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Email sent from shared domain (cobros@dupedesa.com) via SendGrid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56032" y="2962656"/>
            <a:ext cx="4059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2990088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Chart of accounts defined by HCLTech; approved by management in Week 1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56032" y="3456432"/>
            <a:ext cx="4059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3483864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MVP scoped to social interest project type (RD$); tourist type in Pilot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56032" y="3950208"/>
            <a:ext cx="4059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" y="3977640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Physical construction progress entered manually as % milestone completion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73168" y="1170432"/>
            <a:ext cx="4059936" cy="274320"/>
          </a:xfrm>
          <a:prstGeom prst="rect">
            <a:avLst/>
          </a:prstGeom>
          <a:solidFill>
            <a:srgbClr val="1E0D4A"/>
          </a:solidFill>
          <a:ln w="15240">
            <a:solidFill>
              <a:srgbClr val="FFA72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73168" y="1170432"/>
            <a:ext cx="54864" cy="274320"/>
          </a:xfrm>
          <a:prstGeom prst="rect">
            <a:avLst/>
          </a:prstGeom>
          <a:solidFill>
            <a:srgbClr val="FFA726"/>
          </a:solidFill>
          <a:ln w="12700">
            <a:solidFill>
              <a:srgbClr val="FFA7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82896" y="1170432"/>
            <a:ext cx="3877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73168" y="1481328"/>
            <a:ext cx="4059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64608" y="1508760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Provide sample bank statement file (actual format) — Day 1 requirement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1975104"/>
            <a:ext cx="4059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2002536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Register WhatsApp Business Account with Meta — initiate immediately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773168" y="2468880"/>
            <a:ext cx="4059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64608" y="2496312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Confirm project type scope: social interest only, or tourist too in MVP?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73168" y="2962656"/>
            <a:ext cx="4059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2990088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Confirm whether legal firm notification is automated or manual flag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73168" y="3456432"/>
            <a:ext cx="4059936" cy="457200"/>
          </a:xfrm>
          <a:prstGeom prst="rect">
            <a:avLst/>
          </a:prstGeom>
          <a:solidFill>
            <a:srgbClr val="1E0D4A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3483864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Name DUPE product owner, collections officer SME, and management sponsor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73168" y="3950208"/>
            <a:ext cx="4059936" cy="457200"/>
          </a:xfrm>
          <a:prstGeom prst="rect">
            <a:avLst/>
          </a:prstGeom>
          <a:solidFill>
            <a:srgbClr val="2D1870"/>
          </a:solidFill>
          <a:ln w="12700">
            <a:solidFill>
              <a:srgbClr val="1E0D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64608" y="3977640"/>
            <a:ext cx="3895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Confirm cloud environment (HCLTech-provisioned VPS vs. DUPE cloud account)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56032" y="4535424"/>
            <a:ext cx="8631936" cy="201168"/>
          </a:xfrm>
          <a:prstGeom prst="rect">
            <a:avLst/>
          </a:prstGeom>
          <a:solidFill>
            <a:srgbClr val="2D1870"/>
          </a:solidFill>
          <a:ln w="10160">
            <a:solidFill>
              <a:srgbClr val="5F1EB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" y="4553712"/>
            <a:ext cx="84490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B9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Confirm scope and engagement classification · Name the agentic pod · Schedule kick-off · Jose Paulino · Senior AI Solution Architect, HCLTech AI Labs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HCLTech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DUPE Desarrollos Inmobiliarios Agentic Business Platform</dc:title>
  <dc:subject>PptxGenJS Presentation</dc:subject>
  <dc:creator>HCLTech AI Labs</dc:creator>
  <cp:lastModifiedBy>HCLTech AI Labs</cp:lastModifiedBy>
  <cp:revision>1</cp:revision>
  <dcterms:created xsi:type="dcterms:W3CDTF">2026-06-19T14:36:38Z</dcterms:created>
  <dcterms:modified xsi:type="dcterms:W3CDTF">2026-06-19T14:36:38Z</dcterms:modified>
</cp:coreProperties>
</file>
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1: Portada
Bienvenida y contexto:
• Presentar la propuesta de HCLTech AI Labs para DUPE Desarrollos Inmobiliarios.
• Esta presentación cubre la arquitectura L1 de la Plataforma Agéntica de Negocios y el estimado ROM (Rough Order of Magnitude).
• El objetivo de hoy es alinear el entendimiento del problema, validar la arquitectura propuesta y confirmar los supuestos de trabajo.
• La plataforma reemplazará todos los procesos manuales de Excel de DUPE con un sistema integrado y automatizado.
Puntos clave a enfatizar:
• Dos módulos: Gestión Financiera y Gestión de Cobros — integrados bajo una sola plataforma agéntica.
• El estimado ROM es 14–18 días de pod en ~7–8 semanas calendario.
• Clasificación: Solución MVP (no un PoC desechable — DUPE necesita un sistema operativo real desde el primer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2: La Oportunidad
Problema central:
• DUPE maneja proyectos inmobiliarios de 24–48 meses y 100–480+ unidades completamente en Excel.
• No existe integración entre finanzas, conciliación bancaria y cobros.
• El equipo de cobros envía mensajes individuales de WhatsApp y correo sin automatización.
Énfasis clave:
• Columna izquierda (PROBLEMA): son los puntos de dolor confirmados en el cuestionario completado por DUPE.
• Columna central (ENFOQUE): estos son los agentes y capacidades que HCLTech construirá.
• Columna derecha (VALOR): métricas de éxito concretas que mediremos en el MVP.
Preguntar al cliente: "¿Reconocen estos problemas como sus principales puntos de dolor? ¿Hay algo que consideran prioritario que no está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3: Flujo del Proceso
Explicar el flujo de izquierda a derecha:
1. El oficial descarga el extracto bancario de Banco Popular (CSV/TXT) y lo carga al sistema.
2. El Parser convierte el archivo en transacciones estructuradas (fecha, monto, descripción, referencia).
3. El Agente de Conciliación empareja cada transacción con su partida presupuestaria correspondiente.
4. Los datos fluyen al Módulo Financiero para actualizar presupuesto, cash flow y contabilidad.
5. El Módulo de Cobros maneja los planes de pago y cuotas de cada cliente.
6. Las Notificaciones Automáticas se despachan según el calendario del plan de pagos.
7. El Dashboard Gerencial consolida todo en tiempo real con KPIs y alertas semaforizadas.
Aclaración clave:
• CONSTRUIR (verde) = HCLTech desarrolla desde cero.
• ORQUESTAR (azul) = sistemas externos que integramos sin reemplazar.
• El Orquestador Agéntico coordina todo el flujo de principio 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4: Modelo Multi-Agente
Concepto clave para explicar al cliente:
• El Orquestador es el "director de orquesta" — no ejecuta tareas, sino que coordina qué agente hace qué y cuándo.
• Cada agente especializado tiene un rol acotado, herramientas específicas y salidas estructuradas.
• Este diseño garantiza que la plataforma sea auditable, predecible y extensible.
Agentes y sus responsabilidades:
1. Agente de Conciliación → Módulo Financiero (conciliación bancaria diaria).
2. Agente de Notificaciones → Módulo de Cobros (WhatsApp + correo automático).
3. Agente de Inteligencia Financiera → Dashboard ejecutivo (alertas y KPIs en tiempo real).
4. Enrutador de Escalación → Gestión de morosidad (Día +1/+6/+16 overdue).
5. Agente de Reportes → Reporte semanal PDF y estados financieros bajo demanda.
Pregunta para el cliente: "¿Hay algún proceso que no vean representado aquí que consideran crítico para el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5: Flujo de Datos (Swimlane)
Cómo leer este diagrama:
• Las filas (carriles) representan cada agente especializado.
• Las columnas representan las etapas del flujo: Ingerir → Conciliar → Procesar → Notificar → QA + Revisar.
• El Orquestador Agéntico (fila superior) coordina todo el flujo — no ejecuta, sino que dirige.
Puntos de énfasis:
• INGERIR: El extracto bancario entra al sistema vía carga manual.
• CONCILIAR: El Agente de Conciliación empareja transacciones con partidas en tiempo real.
• PROCESAR: La Inteligencia Financiera actualiza el dashboard de presupuesto y cash flow.
• NOTIFICAR: El Agente de Notificaciones y el Enrutador de Escalación se activan según calendario.
• QA + REVISAR: El Agente de Reportes compila y valida antes de entregar a gerencia.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6: Responsabilidades de Agentes
Esta diapositiva es la referencia técnica del cliente para entender qué hace cada agente.
Puntos clave:
• Cada agente tiene un alcance acotado — no hay agentes con responsabilidades ilimitadas.
• Las "Salidas Principales" son los artefactos concretos que produce cada agente y que se pueden auditar.
• El Orquestador es el único agente que tiene visibilidad completa del flujo — los demás solo ven su propio carril.
Si el cliente pregunta sobre personalización:
• El Agente de Conciliación aprende de las decisiones de los oficiales — mejora con el tiempo.
• El Agente de Notificaciones usa plantillas aprobadas por Meta para WhatsApp — no puede enviar mensajes fuera de plantilla.
• El Agente de Reportes puede configurarse para diferentes frecuencias y formatos de reporte.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7: Modelo de Conciliación Bancaria
Explicar el flujo de conciliación:
1. El oficial descarga el extracto bancario de Banco Popular (CSV o TXT desde el netbanking) y lo carga al sistema una vez al día.
2. El Parser extrae los campos clave: fecha, monto, descripción, referencia.
3. El Agente de Conciliación puntúa el emparejamiento de cada transacción con una partida presupuestaria.
Lógica de decisión:
• ALTA confianza → emparejamiento automático; partida y dashboard se actualizan inmediatamente.
• BAJA/MEDIA confianza → la transacción va a la cola de revisión del oficial.
• El oficial resuelve la excepción → el sistema aprende la regla y la aplica a transacciones futuras similares.
Beneficio clave del aprendizaje:
• En el primer mes, habrá más excepciones (el sistema no conoce los patrones de DUPE todavía).
• Con el tiempo, la tasa de auto-emparejamiento mejora — meta: 90%+ en el mes 3.
PREGUNTA CRÍTICA A HACER AL CLIENTE AHORA:
"¿Pueden compartir un archivo de extracto real de Banco Popular para que podamos diseñar el parser desde el Día 1? ¿El formato incluye un código de referencia o concepto que identifique el tipo de transacción?"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8: Flujo de Cobros Automatizado
Explicar la línea de tiempo:
• D-5: 5 días ANTES del vencimiento → el sistema envía automáticamente un recordatorio al cliente por WhatsApp (canal principal) y correo (respaldo).
• D0: Fecha de vencimiento de la cuota → el sistema monitorea si el pago fue registrado. Si sí → auto-conciliación y recibo. Si no → inicia el contador de mora.
• D+1: 1 día de mora → el dashboard del oficial muestra la cuenta en rojo. No hay acción manual requerida — el sistema lo hace visible.
• D+6: 6 días de mora → notificación automática a gerencia por WhatsApp y correo.
• D+16: 16 días de mora → el sistema levanta una bandera de referimiento legal. La acción de externarlo a la firma de abogados puede ser manual (por gerencia) o automatizada (a confirmar con el cliente).
Canales:
• WhatsApp es el canal principal por efectividad y preferencia del cliente dominicano.
• El correo es el respaldo automático si el mensaje de WhatsApp falla en la entrega.
• Todas las notificaciones usan plantillas pre-aprobadas por Meta (requisito de WhatsApp Business).
PUNTO CRÍTICO: La cuenta de WhatsApp Business debe ser registrada con Meta INMEDIATAMENTE. El proceso de verificación toma 1-3 semanas y bloquea el demo de notificaciones si no se inicia ya.
PREGUNTA PARA EL CLIENTE: "En el Día +16, ¿quieren que el sistema envíe automáticamente una notificación a la firma de abogados, o prefieren que sea una acción manual que gerencia activa desde el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9: Panel Ejecutivo
Esta diapositiva presenta el PROTOTIPO del dashboard ejecutivo. Los valores con "?" son intencionalmente vacíos — esta es una pregunta de descubrimiento que se responde aquí en la presentación.
PAUSA Y PREGUNTA PARA EL CLIENTE:
"¿Cuáles son los 3 KPIs financieros más importantes para ustedes como gerencia? Por ejemplo:
  - Presupuesto ejecutado vs. proyectado por partida
  - Saldo disponible en cuenta bancaria conciliado al día
  - Cash flow acumulado mes a mes vs. proyectado
  - Rentabilidad del proyecto (margen de utilidad)"
Panel izquierdo — Módulo Financiero:
• El semáforo de partidas muestra cada línea presupuestaria con su % de ejecución.
• VERDE: dentro del presupuesto (&lt;90%), AMARILLO: cerca del límite (90-100%), ROJO: excedido (&gt;100%).
• Se puede hacer drill-down desde cualquier partida hasta el movimiento bancario individual que la compone.
Panel derecho — Módulo de Cobros:
• Los 4 KPIs de cartera se calculan automáticamente desde los planes de pago y pagos registrados.
• "Eficiencia por oficial" compara el desempeño de cada oficial de cobros por proyecto.
• Estos datos se actualizan en tiempo real — no requieren compilación manual.
Para la gerencia móvil:
• La vista del portal gerencial es mobile-first (optimizada para teléfono).
• Acceso de solo lectura y escritura para gerencia; solo lectura para oficiales.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10: Flujo de Orquestación
Esta diapositiva muestra la máquina de estados del Módulo de Cobros — cómo fluye el proceso desde la venta hasta el cierre de cada cuota.
Explicar los estados:
1. REGISTRO DE VENTA: El equipo de ventas registra la unidad, el cliente, la fecha de compra y el precio.
2. GENERACIÓN DEL PLAN: El sistema calcula automáticamente el plan de pagos (8–16 cuotas) basado en la fecha de compra vs. la fecha programada de entrega.
3. APROBACIÓN (PREGUNTA ABIERTA): ¿Quién aprueba el plan antes de activarlo?
4. PLAN ACTIVO: El calendario de cobros está activo en el sistema.
5. MONITOREO: El sistema envía recordatorios y gestiona la escalación automáticamente.
6. PAGO + CIERRE: El oficial registra el pago; el sistema lo concilia con la cuota y envía el recibo.
PAUSA Y PREGUNTA CRÍTICA PARA EL CLIENTE:
"En el Estado 3 — APROBACIÓN — ¿quién tiene autoridad para aprobar el plan de pagos antes de que se active?
  a) Solo la gerencia general
  b) El oficial de cobros lo propone y la gerencia aprueba
  c) Se activa automáticamente basado en los parámetros del contrato (sin aprobación manual)"
La respuesta a esta pregunta define si necesitamos un flujo de aprobación con notificación a gerencia o si el sistema puede activar el plan de forma determinista.
Punto técnico importante:
• El Orquestador registra cada transición de estado en el log de auditoría con timestamp.
• Esto garantiza trazabilidad completa de cada plan de pagos y cada cuota.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11: Construir vs. Orquestar
Esta diapositiva es importante para la gestión de expectativas del cliente sobre el alcance comercial.
Columna VERDE (CONSTRUIR):
• Todo esto es código nuevo desarrollado por el equipo de HCLTech.
• Incluye los 5 agentes especializados, el orquestador, los módulos de finanzas y cobros, los dashboards, y la base de datos.
• Al finalizar el MVP, este código se entrega a DUPE para operación y mantenimiento.
Columna AZUL (ORQUESTAR):
• Estos son servicios externos que integramos — no los reemplazamos ni los construimos.
• Meta Cloud API (WhatsApp): proveedor externo; DUPE necesita abrir la cuenta de WhatsApp Business.
• SendGrid: servicio de correo externo; DUPE necesita el dominio cobros@dupedesa.com.
• Banco Popular: el sistema no conecta directamente al banco — el oficial descarga el archivo manualmente.
• PDF/Excel: usamos bibliotecas open source (ReportLab, openpyxl) — sin costo de licencia adicional.
Mensaje clave para el cliente:
"Lo que HCLTech construye es el cerebro agéntico. Los canales de comunicación (WhatsApp, correo) y el banco son servicios que DUPE ya usa — los conectamos a través de integraciones controladas."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12: Estimado ROM
Contexto del estimado:
• ROM = Rough Order of Magnitude — es una estimación de orden de magnitud, no un precio fijo.
• El estimado usa la unidad comercial "día de pod" de HCLTech: un día de pod = un día completo del equipo agéntico de 3 roles (Arquitecto de Contexto + Ingeniero de Valor + Ingeniero de Calidad).
• 14–18 días de pod en ~7–8 semanas calendario (considerando disponibilidad del cliente, revisiones y tiempos de integración).
Cómo explicar los números al cliente:
• "No les estamos cotizando horas individuales. Les estamos cotizando un equipo de alto rendimiento operando en conjunto, con agentes de IA absorbiendo el trabajo repetitivo."
• Los 14–18 días de pod equivalen internamente a ~42–54 persona-días de trabajo (3 roles × pod days).
Contingencia (+3–5 días de pod):
• Se activa si: hay múltiples formatos de extracto bancario, plantillas de WhatsApp son rechazadas por Meta y hay que rediseñarlas, o el alcance se amplía a proyectos turísticos (USD) desde el inicio.
Opción Gold PoC (opcional, antes del MVP):
• 4–5 días de pod, 1 semana calendario.
• Propósito: probar el flujo de notificaciones de WhatsApp y el agente de conciliación con datos sintéticos ANTES de empezar el reloj del MVP.
• Entrega: demo ejecutivo y aprobación del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NOTAS DEL PRESENTADOR — Diapositiva 13: Cierre
Esta es la diapositiva de cierre y llamada a la acción.
Recorrer los supuestos (columna verde):
• Estos supuestos fueron derivados de las respuestas al cuestionario. Si alguno es incorrecto, necesitamos discutirlo hoy antes de cerrar el alcance.
• Enfatizar Supuesto A5 (plan de cuentas): HCLTech propondrá un catálogo basado en el estándar de bienes raíces de RD — la gerencia lo revisa y aprueba en la Semana 1 del proyecto.
Recorrer las decisiones pendientes (columna ámbar):
1. Extracto bancario → CRÍTICO para el Día 1. Sin este archivo, el parser no puede diseñarse.
2. WhatsApp Business → CRÍTICO inmediato. La verificación con Meta toma 1-3 semanas.
3. Alcance del MVP → ¿solo RD$ o también USD desde el inicio?
4. Aprobación del plan de pagos → respuesta de esta presentación (Diapositiva 10).
5. Notificación legal → respuesta de esta presentación (Diapositiva 8).
6. Entorno cloud → necesitamos definir si HCLTech provisiona o si DUPE tiene cuenta.
Llamada a la acción clara:
• "Con las decisiones de hoy, podemos cerrar el alcance y enviar la propuesta formal en 48 horas."
• "La acción más urgente es iniciar el registro de WhatsApp Business — es la única que está fuera de nuestro control."
Contacto: Jose Paulino · jose.paulino@hcltech.com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lucid-trusting-edison/mnt/dupe/docs/rom/decks/title_bg.png">    </p:cNvPr>
          <p:cNvPicPr>
            <a:picLocks noChangeAspect="1"/>
          </p:cNvPicPr>
          <p:nvPr/>
        </p:nvPicPr>
        <p:blipFill>
          <a:blip r:embed="rId1"/>
          <a:stretch>
            <a:fillRect/>
          </a:stretch>
        </p:blipFill>
        <p:spPr>
          <a:xfrm>
            <a:off x="0" y="0"/>
            <a:ext cx="9144000" cy="5148072"/>
          </a:xfrm>
          <a:prstGeom prst="rect">
            <a:avLst/>
          </a:prstGeom>
        </p:spPr>
      </p:pic>
      <p:sp>
        <p:nvSpPr>
          <p:cNvPr id="3" name="Text 0"/>
          <p:cNvSpPr/>
          <p:nvPr/>
        </p:nvSpPr>
        <p:spPr>
          <a:xfrm>
            <a:off x="347472" y="201168"/>
            <a:ext cx="1554480" cy="3657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HCL</a:t>
            </a:r>
            <a:pPr indent="0" marL="0">
              <a:buNone/>
            </a:pPr>
            <a:r>
              <a:rPr lang="en-US" sz="2000" b="1" dirty="0">
                <a:solidFill>
                  <a:srgbClr val="B9C8FF"/>
                </a:solidFill>
                <a:latin typeface="Arial" pitchFamily="34" charset="0"/>
                <a:ea typeface="Arial" pitchFamily="34" charset="-122"/>
                <a:cs typeface="Arial" pitchFamily="34" charset="-120"/>
              </a:rPr>
              <a:t>Tech</a:t>
            </a:r>
            <a:endParaRPr lang="en-US" sz="2000" dirty="0"/>
          </a:p>
        </p:txBody>
      </p:sp>
      <p:sp>
        <p:nvSpPr>
          <p:cNvPr id="4" name="Text 1"/>
          <p:cNvSpPr/>
          <p:nvPr/>
        </p:nvSpPr>
        <p:spPr>
          <a:xfrm>
            <a:off x="1847088" y="201168"/>
            <a:ext cx="3200400" cy="365760"/>
          </a:xfrm>
          <a:prstGeom prst="rect">
            <a:avLst/>
          </a:prstGeom>
          <a:noFill/>
          <a:ln/>
        </p:spPr>
        <p:txBody>
          <a:bodyPr wrap="square" rtlCol="0" anchor="ctr"/>
          <a:lstStyle/>
          <a:p>
            <a:pPr indent="0" marL="0">
              <a:buNone/>
            </a:pPr>
            <a:r>
              <a:rPr lang="en-US" sz="900" dirty="0">
                <a:solidFill>
                  <a:srgbClr val="B9C8FF"/>
                </a:solidFill>
                <a:latin typeface="Arial" pitchFamily="34" charset="0"/>
                <a:ea typeface="Arial" pitchFamily="34" charset="-122"/>
                <a:cs typeface="Arial" pitchFamily="34" charset="-120"/>
              </a:rPr>
              <a:t>| Supercharging Progress™</a:t>
            </a:r>
            <a:endParaRPr lang="en-US" sz="900" dirty="0"/>
          </a:p>
        </p:txBody>
      </p:sp>
      <p:sp>
        <p:nvSpPr>
          <p:cNvPr id="5" name="Text 2"/>
          <p:cNvSpPr/>
          <p:nvPr/>
        </p:nvSpPr>
        <p:spPr>
          <a:xfrm>
            <a:off x="347472" y="1170432"/>
            <a:ext cx="8229600" cy="594360"/>
          </a:xfrm>
          <a:prstGeom prst="rect">
            <a:avLst/>
          </a:prstGeom>
          <a:noFill/>
          <a:ln/>
        </p:spPr>
        <p:txBody>
          <a:bodyPr wrap="square" rtlCol="0" anchor="ctr"/>
          <a:lstStyle/>
          <a:p>
            <a:pPr indent="0" marL="0">
              <a:buNone/>
            </a:pPr>
            <a:r>
              <a:rPr lang="en-US" sz="3800" b="1" dirty="0">
                <a:solidFill>
                  <a:srgbClr val="FFFFFF"/>
                </a:solidFill>
                <a:latin typeface="Arial" pitchFamily="34" charset="0"/>
                <a:ea typeface="Arial" pitchFamily="34" charset="-122"/>
                <a:cs typeface="Arial" pitchFamily="34" charset="-120"/>
              </a:rPr>
              <a:t>DUPE Desarrollos Inmobiliarios</a:t>
            </a:r>
            <a:endParaRPr lang="en-US" sz="3800" dirty="0"/>
          </a:p>
        </p:txBody>
      </p:sp>
      <p:sp>
        <p:nvSpPr>
          <p:cNvPr id="6" name="Text 3"/>
          <p:cNvSpPr/>
          <p:nvPr/>
        </p:nvSpPr>
        <p:spPr>
          <a:xfrm>
            <a:off x="347472" y="1755648"/>
            <a:ext cx="8229600" cy="475488"/>
          </a:xfrm>
          <a:prstGeom prst="rect">
            <a:avLst/>
          </a:prstGeom>
          <a:noFill/>
          <a:ln/>
        </p:spPr>
        <p:txBody>
          <a:bodyPr wrap="square" rtlCol="0" anchor="ctr"/>
          <a:lstStyle/>
          <a:p>
            <a:pPr indent="0" marL="0">
              <a:buNone/>
            </a:pPr>
            <a:r>
              <a:rPr lang="en-US" sz="2600" b="1" dirty="0">
                <a:solidFill>
                  <a:srgbClr val="B9C8FF"/>
                </a:solidFill>
                <a:latin typeface="Arial" pitchFamily="34" charset="0"/>
                <a:ea typeface="Arial" pitchFamily="34" charset="-122"/>
                <a:cs typeface="Arial" pitchFamily="34" charset="-120"/>
              </a:rPr>
              <a:t>Plataforma Agéntica de Negocios</a:t>
            </a:r>
            <a:endParaRPr lang="en-US" sz="2600" dirty="0"/>
          </a:p>
        </p:txBody>
      </p:sp>
      <p:sp>
        <p:nvSpPr>
          <p:cNvPr id="7" name="Shape 4"/>
          <p:cNvSpPr/>
          <p:nvPr/>
        </p:nvSpPr>
        <p:spPr>
          <a:xfrm>
            <a:off x="347472" y="2304288"/>
            <a:ext cx="3657600" cy="50292"/>
          </a:xfrm>
          <a:prstGeom prst="rect">
            <a:avLst/>
          </a:prstGeom>
          <a:solidFill>
            <a:srgbClr val="8CC8FA"/>
          </a:solidFill>
          <a:ln w="12700">
            <a:solidFill>
              <a:srgbClr val="8CC8FA"/>
            </a:solidFill>
            <a:prstDash val="solid"/>
          </a:ln>
        </p:spPr>
      </p:sp>
      <p:sp>
        <p:nvSpPr>
          <p:cNvPr id="8" name="Text 5"/>
          <p:cNvSpPr/>
          <p:nvPr/>
        </p:nvSpPr>
        <p:spPr>
          <a:xfrm>
            <a:off x="347472" y="2432304"/>
            <a:ext cx="8229600" cy="329184"/>
          </a:xfrm>
          <a:prstGeom prst="rect">
            <a:avLst/>
          </a:prstGeom>
          <a:noFill/>
          <a:ln/>
        </p:spPr>
        <p:txBody>
          <a:bodyPr wrap="square" rtlCol="0" anchor="ctr"/>
          <a:lstStyle/>
          <a:p>
            <a:pPr indent="0" marL="0">
              <a:buNone/>
            </a:pPr>
            <a:r>
              <a:rPr lang="en-US" sz="1200" i="1" dirty="0">
                <a:solidFill>
                  <a:srgbClr val="B9C8FF"/>
                </a:solidFill>
                <a:latin typeface="Arial" pitchFamily="34" charset="0"/>
                <a:ea typeface="Arial" pitchFamily="34" charset="-122"/>
                <a:cs typeface="Arial" pitchFamily="34" charset="-120"/>
              </a:rPr>
              <a:t>Arquitectura L1 Multi-Agente · Estimado ROM · Propuesta HCLTech AI Labs</a:t>
            </a:r>
            <a:endParaRPr lang="en-US" sz="1200" dirty="0"/>
          </a:p>
        </p:txBody>
      </p:sp>
      <p:sp>
        <p:nvSpPr>
          <p:cNvPr id="9" name="Shape 6"/>
          <p:cNvSpPr/>
          <p:nvPr/>
        </p:nvSpPr>
        <p:spPr>
          <a:xfrm>
            <a:off x="347472" y="2926080"/>
            <a:ext cx="4389120" cy="1024128"/>
          </a:xfrm>
          <a:prstGeom prst="roundRect">
            <a:avLst>
              <a:gd name="adj" fmla="val 7143"/>
            </a:avLst>
          </a:prstGeom>
          <a:solidFill>
            <a:srgbClr val="FFFFFF">
              <a:alpha val="15000"/>
            </a:srgbClr>
          </a:solidFill>
          <a:ln w="19050">
            <a:solidFill>
              <a:srgbClr val="FFA726"/>
            </a:solidFill>
            <a:prstDash val="solid"/>
          </a:ln>
        </p:spPr>
      </p:sp>
      <p:sp>
        <p:nvSpPr>
          <p:cNvPr id="10" name="Text 7"/>
          <p:cNvSpPr/>
          <p:nvPr/>
        </p:nvSpPr>
        <p:spPr>
          <a:xfrm>
            <a:off x="457200" y="2980944"/>
            <a:ext cx="4206240" cy="201168"/>
          </a:xfrm>
          <a:prstGeom prst="rect">
            <a:avLst/>
          </a:prstGeom>
          <a:noFill/>
          <a:ln/>
        </p:spPr>
        <p:txBody>
          <a:bodyPr wrap="square" rtlCol="0" anchor="ctr"/>
          <a:lstStyle/>
          <a:p>
            <a:pPr indent="0" marL="0">
              <a:buNone/>
            </a:pPr>
            <a:r>
              <a:rPr lang="en-US" sz="750" b="1" spc="200" kern="0" dirty="0">
                <a:solidFill>
                  <a:srgbClr val="FFA726"/>
                </a:solidFill>
                <a:latin typeface="Arial" pitchFamily="34" charset="0"/>
                <a:ea typeface="Arial" pitchFamily="34" charset="-122"/>
                <a:cs typeface="Arial" pitchFamily="34" charset="-120"/>
              </a:rPr>
              <a:t>ESTIMADO ROM</a:t>
            </a:r>
            <a:endParaRPr lang="en-US" sz="750" dirty="0"/>
          </a:p>
        </p:txBody>
      </p:sp>
      <p:sp>
        <p:nvSpPr>
          <p:cNvPr id="11" name="Text 8"/>
          <p:cNvSpPr/>
          <p:nvPr/>
        </p:nvSpPr>
        <p:spPr>
          <a:xfrm>
            <a:off x="457200" y="3163824"/>
            <a:ext cx="1828800" cy="548640"/>
          </a:xfrm>
          <a:prstGeom prst="rect">
            <a:avLst/>
          </a:prstGeom>
          <a:noFill/>
          <a:ln/>
        </p:spPr>
        <p:txBody>
          <a:bodyPr wrap="square" rtlCol="0" anchor="ctr"/>
          <a:lstStyle/>
          <a:p>
            <a:pPr indent="0" marL="0">
              <a:buNone/>
            </a:pPr>
            <a:r>
              <a:rPr lang="en-US" sz="3800" b="1" dirty="0">
                <a:solidFill>
                  <a:srgbClr val="FFA726"/>
                </a:solidFill>
                <a:latin typeface="Arial" pitchFamily="34" charset="0"/>
                <a:ea typeface="Arial" pitchFamily="34" charset="-122"/>
                <a:cs typeface="Arial" pitchFamily="34" charset="-120"/>
              </a:rPr>
              <a:t>14–18</a:t>
            </a:r>
            <a:endParaRPr lang="en-US" sz="3800" dirty="0"/>
          </a:p>
        </p:txBody>
      </p:sp>
      <p:sp>
        <p:nvSpPr>
          <p:cNvPr id="12" name="Text 9"/>
          <p:cNvSpPr/>
          <p:nvPr/>
        </p:nvSpPr>
        <p:spPr>
          <a:xfrm>
            <a:off x="2322576" y="3200400"/>
            <a:ext cx="2286000" cy="502920"/>
          </a:xfrm>
          <a:prstGeom prst="rect">
            <a:avLst/>
          </a:prstGeom>
          <a:noFill/>
          <a:ln/>
        </p:spPr>
        <p:txBody>
          <a:bodyPr wrap="square" rtlCol="0" anchor="ctr"/>
          <a:lstStyle/>
          <a:p>
            <a:pPr indent="0" marL="0">
              <a:buNone/>
            </a:pPr>
            <a:r>
              <a:rPr lang="en-US" sz="900" dirty="0">
                <a:solidFill>
                  <a:srgbClr val="FFFFFF"/>
                </a:solidFill>
                <a:latin typeface="Arial" pitchFamily="34" charset="0"/>
                <a:ea typeface="Arial" pitchFamily="34" charset="-122"/>
                <a:cs typeface="Arial" pitchFamily="34" charset="-120"/>
              </a:rPr>
              <a:t>días de pod  ·  ~7–8 semanas calendario</a:t>
            </a:r>
            <a:endParaRPr lang="en-US" sz="900" dirty="0"/>
          </a:p>
          <a:p>
            <a:pPr indent="0" marL="0">
              <a:buNone/>
            </a:pPr>
            <a:r>
              <a:rPr lang="en-US" sz="900" dirty="0">
                <a:solidFill>
                  <a:srgbClr val="FFFFFF"/>
                </a:solidFill>
                <a:latin typeface="Arial" pitchFamily="34" charset="0"/>
                <a:ea typeface="Arial" pitchFamily="34" charset="-122"/>
                <a:cs typeface="Arial" pitchFamily="34" charset="-120"/>
              </a:rPr>
              <a:t>Pod agéntico de 3 roles  ·  Solución MVP</a:t>
            </a:r>
            <a:endParaRPr lang="en-US" sz="900" dirty="0"/>
          </a:p>
        </p:txBody>
      </p:sp>
      <p:sp>
        <p:nvSpPr>
          <p:cNvPr id="13" name="Text 10"/>
          <p:cNvSpPr/>
          <p:nvPr/>
        </p:nvSpPr>
        <p:spPr>
          <a:xfrm>
            <a:off x="347472" y="4389120"/>
            <a:ext cx="8412480" cy="201168"/>
          </a:xfrm>
          <a:prstGeom prst="rect">
            <a:avLst/>
          </a:prstGeom>
          <a:noFill/>
          <a:ln/>
        </p:spPr>
        <p:txBody>
          <a:bodyPr wrap="square" rtlCol="0" anchor="ctr"/>
          <a:lstStyle/>
          <a:p>
            <a:pPr indent="0" marL="0">
              <a:buNone/>
            </a:pPr>
            <a:r>
              <a:rPr lang="en-US" sz="750" dirty="0">
                <a:solidFill>
                  <a:srgbClr val="B9C8FF"/>
                </a:solidFill>
                <a:latin typeface="Arial" pitchFamily="34" charset="0"/>
                <a:ea typeface="Arial" pitchFamily="34" charset="-122"/>
                <a:cs typeface="Arial" pitchFamily="34" charset="-120"/>
              </a:rPr>
              <a:t>Jose Paulino · Arquitecto Senior de Soluciones IA, HCLTech AI Labs  ·  Junio 2026  ·  CONFIDENCIAL</a:t>
            </a:r>
            <a:endParaRPr lang="en-US" sz="750" dirty="0"/>
          </a:p>
        </p:txBody>
      </p:sp>
      <p:sp>
        <p:nvSpPr>
          <p:cNvPr id="14" name="Shape 11"/>
          <p:cNvSpPr/>
          <p:nvPr/>
        </p:nvSpPr>
        <p:spPr>
          <a:xfrm>
            <a:off x="0" y="4974336"/>
            <a:ext cx="9144000" cy="173736"/>
          </a:xfrm>
          <a:prstGeom prst="rect">
            <a:avLst/>
          </a:prstGeom>
          <a:solidFill>
            <a:srgbClr val="1E0D4A"/>
          </a:solidFill>
          <a:ln w="12700">
            <a:solidFill>
              <a:srgbClr val="1E0D4A"/>
            </a:solidFill>
            <a:prstDash val="solid"/>
          </a:ln>
        </p:spPr>
      </p:sp>
      <p:sp>
        <p:nvSpPr>
          <p:cNvPr id="15" name="Shape 12"/>
          <p:cNvSpPr/>
          <p:nvPr/>
        </p:nvSpPr>
        <p:spPr>
          <a:xfrm>
            <a:off x="0" y="4969764"/>
            <a:ext cx="3017520" cy="10973"/>
          </a:xfrm>
          <a:prstGeom prst="rect">
            <a:avLst/>
          </a:prstGeom>
          <a:solidFill>
            <a:srgbClr val="5F1EBE"/>
          </a:solidFill>
          <a:ln w="12700">
            <a:solidFill>
              <a:srgbClr val="5F1EBE"/>
            </a:solidFill>
            <a:prstDash val="solid"/>
          </a:ln>
        </p:spPr>
      </p:sp>
      <p:sp>
        <p:nvSpPr>
          <p:cNvPr id="16" name="Shape 13"/>
          <p:cNvSpPr/>
          <p:nvPr/>
        </p:nvSpPr>
        <p:spPr>
          <a:xfrm>
            <a:off x="3017520" y="4969764"/>
            <a:ext cx="3108960" cy="10973"/>
          </a:xfrm>
          <a:prstGeom prst="rect">
            <a:avLst/>
          </a:prstGeom>
          <a:solidFill>
            <a:srgbClr val="0F5FDC"/>
          </a:solidFill>
          <a:ln w="12700">
            <a:solidFill>
              <a:srgbClr val="0F5FDC"/>
            </a:solidFill>
            <a:prstDash val="solid"/>
          </a:ln>
        </p:spPr>
      </p:sp>
      <p:sp>
        <p:nvSpPr>
          <p:cNvPr id="17" name="Shape 14"/>
          <p:cNvSpPr/>
          <p:nvPr/>
        </p:nvSpPr>
        <p:spPr>
          <a:xfrm>
            <a:off x="6126480" y="4969764"/>
            <a:ext cx="3017520" cy="10973"/>
          </a:xfrm>
          <a:prstGeom prst="rect">
            <a:avLst/>
          </a:prstGeom>
          <a:solidFill>
            <a:srgbClr val="8C69F0"/>
          </a:solidFill>
          <a:ln w="12700">
            <a:solidFill>
              <a:srgbClr val="8C69F0"/>
            </a:solidFill>
            <a:prstDash val="solid"/>
          </a:ln>
        </p:spPr>
      </p:sp>
      <p:sp>
        <p:nvSpPr>
          <p:cNvPr id="18" name="Text 15"/>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9" name="Text 16"/>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La Oportunidad</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Dos módulos. Una plataforma agéntica. Cero seguimiento manual.</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2</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4" name="Shape 12"/>
          <p:cNvSpPr/>
          <p:nvPr/>
        </p:nvSpPr>
        <p:spPr>
          <a:xfrm>
            <a:off x="256032" y="1207008"/>
            <a:ext cx="8631936" cy="694944"/>
          </a:xfrm>
          <a:prstGeom prst="rect">
            <a:avLst/>
          </a:prstGeom>
          <a:solidFill>
            <a:srgbClr val="2D1870"/>
          </a:solidFill>
          <a:ln w="15240">
            <a:solidFill>
              <a:srgbClr val="5F1EBE"/>
            </a:solidFill>
            <a:prstDash val="solid"/>
          </a:ln>
        </p:spPr>
      </p:sp>
      <p:sp>
        <p:nvSpPr>
          <p:cNvPr id="15" name="Shape 13"/>
          <p:cNvSpPr/>
          <p:nvPr/>
        </p:nvSpPr>
        <p:spPr>
          <a:xfrm>
            <a:off x="256032" y="1207008"/>
            <a:ext cx="64008" cy="694944"/>
          </a:xfrm>
          <a:prstGeom prst="rect">
            <a:avLst/>
          </a:prstGeom>
          <a:solidFill>
            <a:srgbClr val="8C69F0"/>
          </a:solidFill>
          <a:ln w="12700">
            <a:solidFill>
              <a:srgbClr val="8C69F0"/>
            </a:solidFill>
            <a:prstDash val="solid"/>
          </a:ln>
        </p:spPr>
      </p:sp>
      <p:sp>
        <p:nvSpPr>
          <p:cNvPr id="16" name="Text 14"/>
          <p:cNvSpPr/>
          <p:nvPr/>
        </p:nvSpPr>
        <p:spPr>
          <a:xfrm>
            <a:off x="402336" y="1243584"/>
            <a:ext cx="8229600" cy="621792"/>
          </a:xfrm>
          <a:prstGeom prst="rect">
            <a:avLst/>
          </a:prstGeom>
          <a:noFill/>
          <a:ln/>
        </p:spPr>
        <p:txBody>
          <a:bodyPr wrap="square" rtlCol="0" anchor="ctr"/>
          <a:lstStyle/>
          <a:p>
            <a:pPr indent="0" marL="0">
              <a:buNone/>
            </a:pPr>
            <a:r>
              <a:rPr lang="en-US" sz="1050" i="1" dirty="0">
                <a:solidFill>
                  <a:srgbClr val="B9C8FF"/>
                </a:solidFill>
                <a:latin typeface="Arial" pitchFamily="34" charset="0"/>
                <a:ea typeface="Arial" pitchFamily="34" charset="-122"/>
                <a:cs typeface="Arial" pitchFamily="34" charset="-120"/>
              </a:rPr>
              <a:t>"Manejamos todo en Excel — presupuestos, flujo de caja, cobros — y no tenemos visibilidad en tiempo real del estado de nuestros proyectos."</a:t>
            </a:r>
            <a:endParaRPr lang="en-US" sz="1050" dirty="0"/>
          </a:p>
        </p:txBody>
      </p:sp>
      <p:sp>
        <p:nvSpPr>
          <p:cNvPr id="17" name="Shape 15"/>
          <p:cNvSpPr/>
          <p:nvPr/>
        </p:nvSpPr>
        <p:spPr>
          <a:xfrm>
            <a:off x="256032" y="1975104"/>
            <a:ext cx="2944368" cy="256032"/>
          </a:xfrm>
          <a:prstGeom prst="rect">
            <a:avLst/>
          </a:prstGeom>
          <a:solidFill>
            <a:srgbClr val="EF5350"/>
          </a:solidFill>
          <a:ln w="12700">
            <a:solidFill>
              <a:srgbClr val="EF5350"/>
            </a:solidFill>
            <a:prstDash val="solid"/>
          </a:ln>
        </p:spPr>
      </p:sp>
      <p:sp>
        <p:nvSpPr>
          <p:cNvPr id="18" name="Text 16"/>
          <p:cNvSpPr/>
          <p:nvPr/>
        </p:nvSpPr>
        <p:spPr>
          <a:xfrm>
            <a:off x="329184" y="1975104"/>
            <a:ext cx="2834640" cy="256032"/>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Problema Actual</a:t>
            </a:r>
            <a:endParaRPr lang="en-US" sz="900" dirty="0"/>
          </a:p>
        </p:txBody>
      </p:sp>
      <p:sp>
        <p:nvSpPr>
          <p:cNvPr id="19" name="Shape 17"/>
          <p:cNvSpPr/>
          <p:nvPr/>
        </p:nvSpPr>
        <p:spPr>
          <a:xfrm>
            <a:off x="256032" y="2267712"/>
            <a:ext cx="2944368" cy="438912"/>
          </a:xfrm>
          <a:prstGeom prst="rect">
            <a:avLst/>
          </a:prstGeom>
          <a:solidFill>
            <a:srgbClr val="1E0D4A"/>
          </a:solidFill>
          <a:ln w="12700">
            <a:solidFill>
              <a:srgbClr val="1E0D4A"/>
            </a:solidFill>
            <a:prstDash val="solid"/>
          </a:ln>
        </p:spPr>
      </p:sp>
      <p:sp>
        <p:nvSpPr>
          <p:cNvPr id="20" name="Shape 18"/>
          <p:cNvSpPr/>
          <p:nvPr/>
        </p:nvSpPr>
        <p:spPr>
          <a:xfrm>
            <a:off x="256032" y="2267712"/>
            <a:ext cx="45720" cy="438912"/>
          </a:xfrm>
          <a:prstGeom prst="rect">
            <a:avLst/>
          </a:prstGeom>
          <a:solidFill>
            <a:srgbClr val="EF5350"/>
          </a:solidFill>
          <a:ln w="12700">
            <a:solidFill>
              <a:srgbClr val="EF5350"/>
            </a:solidFill>
            <a:prstDash val="solid"/>
          </a:ln>
        </p:spPr>
      </p:sp>
      <p:sp>
        <p:nvSpPr>
          <p:cNvPr id="21" name="Text 19"/>
          <p:cNvSpPr/>
          <p:nvPr/>
        </p:nvSpPr>
        <p:spPr>
          <a:xfrm>
            <a:off x="347472" y="22860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Presupuesto y flujo de caja en hojas de Excel desconectadas</a:t>
            </a:r>
            <a:endParaRPr lang="en-US" sz="850" dirty="0"/>
          </a:p>
        </p:txBody>
      </p:sp>
      <p:sp>
        <p:nvSpPr>
          <p:cNvPr id="22" name="Shape 20"/>
          <p:cNvSpPr/>
          <p:nvPr/>
        </p:nvSpPr>
        <p:spPr>
          <a:xfrm>
            <a:off x="256032" y="2724912"/>
            <a:ext cx="2944368" cy="438912"/>
          </a:xfrm>
          <a:prstGeom prst="rect">
            <a:avLst/>
          </a:prstGeom>
          <a:solidFill>
            <a:srgbClr val="2D1870"/>
          </a:solidFill>
          <a:ln w="12700">
            <a:solidFill>
              <a:srgbClr val="1E0D4A"/>
            </a:solidFill>
            <a:prstDash val="solid"/>
          </a:ln>
        </p:spPr>
      </p:sp>
      <p:sp>
        <p:nvSpPr>
          <p:cNvPr id="23" name="Shape 21"/>
          <p:cNvSpPr/>
          <p:nvPr/>
        </p:nvSpPr>
        <p:spPr>
          <a:xfrm>
            <a:off x="256032" y="2724912"/>
            <a:ext cx="45720" cy="438912"/>
          </a:xfrm>
          <a:prstGeom prst="rect">
            <a:avLst/>
          </a:prstGeom>
          <a:solidFill>
            <a:srgbClr val="EF5350"/>
          </a:solidFill>
          <a:ln w="12700">
            <a:solidFill>
              <a:srgbClr val="EF5350"/>
            </a:solidFill>
            <a:prstDash val="solid"/>
          </a:ln>
        </p:spPr>
      </p:sp>
      <p:sp>
        <p:nvSpPr>
          <p:cNvPr id="24" name="Text 22"/>
          <p:cNvSpPr/>
          <p:nvPr/>
        </p:nvSpPr>
        <p:spPr>
          <a:xfrm>
            <a:off x="347472" y="27432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Conciliación bancaria 100% manual — partidas asignadas a mano</a:t>
            </a:r>
            <a:endParaRPr lang="en-US" sz="850" dirty="0"/>
          </a:p>
        </p:txBody>
      </p:sp>
      <p:sp>
        <p:nvSpPr>
          <p:cNvPr id="25" name="Shape 23"/>
          <p:cNvSpPr/>
          <p:nvPr/>
        </p:nvSpPr>
        <p:spPr>
          <a:xfrm>
            <a:off x="256032" y="3182112"/>
            <a:ext cx="2944368" cy="438912"/>
          </a:xfrm>
          <a:prstGeom prst="rect">
            <a:avLst/>
          </a:prstGeom>
          <a:solidFill>
            <a:srgbClr val="1E0D4A"/>
          </a:solidFill>
          <a:ln w="12700">
            <a:solidFill>
              <a:srgbClr val="1E0D4A"/>
            </a:solidFill>
            <a:prstDash val="solid"/>
          </a:ln>
        </p:spPr>
      </p:sp>
      <p:sp>
        <p:nvSpPr>
          <p:cNvPr id="26" name="Shape 24"/>
          <p:cNvSpPr/>
          <p:nvPr/>
        </p:nvSpPr>
        <p:spPr>
          <a:xfrm>
            <a:off x="256032" y="3182112"/>
            <a:ext cx="45720" cy="438912"/>
          </a:xfrm>
          <a:prstGeom prst="rect">
            <a:avLst/>
          </a:prstGeom>
          <a:solidFill>
            <a:srgbClr val="EF5350"/>
          </a:solidFill>
          <a:ln w="12700">
            <a:solidFill>
              <a:srgbClr val="EF5350"/>
            </a:solidFill>
            <a:prstDash val="solid"/>
          </a:ln>
        </p:spPr>
      </p:sp>
      <p:sp>
        <p:nvSpPr>
          <p:cNvPr id="27" name="Text 25"/>
          <p:cNvSpPr/>
          <p:nvPr/>
        </p:nvSpPr>
        <p:spPr>
          <a:xfrm>
            <a:off x="347472" y="32004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Oficiales envían mensajes de WhatsApp/correo individualmente</a:t>
            </a:r>
            <a:endParaRPr lang="en-US" sz="850" dirty="0"/>
          </a:p>
        </p:txBody>
      </p:sp>
      <p:sp>
        <p:nvSpPr>
          <p:cNvPr id="28" name="Shape 26"/>
          <p:cNvSpPr/>
          <p:nvPr/>
        </p:nvSpPr>
        <p:spPr>
          <a:xfrm>
            <a:off x="256032" y="3639312"/>
            <a:ext cx="2944368" cy="438912"/>
          </a:xfrm>
          <a:prstGeom prst="rect">
            <a:avLst/>
          </a:prstGeom>
          <a:solidFill>
            <a:srgbClr val="2D1870"/>
          </a:solidFill>
          <a:ln w="12700">
            <a:solidFill>
              <a:srgbClr val="1E0D4A"/>
            </a:solidFill>
            <a:prstDash val="solid"/>
          </a:ln>
        </p:spPr>
      </p:sp>
      <p:sp>
        <p:nvSpPr>
          <p:cNvPr id="29" name="Shape 27"/>
          <p:cNvSpPr/>
          <p:nvPr/>
        </p:nvSpPr>
        <p:spPr>
          <a:xfrm>
            <a:off x="256032" y="3639312"/>
            <a:ext cx="45720" cy="438912"/>
          </a:xfrm>
          <a:prstGeom prst="rect">
            <a:avLst/>
          </a:prstGeom>
          <a:solidFill>
            <a:srgbClr val="EF5350"/>
          </a:solidFill>
          <a:ln w="12700">
            <a:solidFill>
              <a:srgbClr val="EF5350"/>
            </a:solidFill>
            <a:prstDash val="solid"/>
          </a:ln>
        </p:spPr>
      </p:sp>
      <p:sp>
        <p:nvSpPr>
          <p:cNvPr id="30" name="Text 28"/>
          <p:cNvSpPr/>
          <p:nvPr/>
        </p:nvSpPr>
        <p:spPr>
          <a:xfrm>
            <a:off x="347472" y="36576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Sin escalación automática de morosidad a gerencia o legal</a:t>
            </a:r>
            <a:endParaRPr lang="en-US" sz="850" dirty="0"/>
          </a:p>
        </p:txBody>
      </p:sp>
      <p:sp>
        <p:nvSpPr>
          <p:cNvPr id="31" name="Shape 29"/>
          <p:cNvSpPr/>
          <p:nvPr/>
        </p:nvSpPr>
        <p:spPr>
          <a:xfrm>
            <a:off x="256032" y="4096512"/>
            <a:ext cx="2944368" cy="438912"/>
          </a:xfrm>
          <a:prstGeom prst="rect">
            <a:avLst/>
          </a:prstGeom>
          <a:solidFill>
            <a:srgbClr val="1E0D4A"/>
          </a:solidFill>
          <a:ln w="12700">
            <a:solidFill>
              <a:srgbClr val="1E0D4A"/>
            </a:solidFill>
            <a:prstDash val="solid"/>
          </a:ln>
        </p:spPr>
      </p:sp>
      <p:sp>
        <p:nvSpPr>
          <p:cNvPr id="32" name="Shape 30"/>
          <p:cNvSpPr/>
          <p:nvPr/>
        </p:nvSpPr>
        <p:spPr>
          <a:xfrm>
            <a:off x="256032" y="4096512"/>
            <a:ext cx="45720" cy="438912"/>
          </a:xfrm>
          <a:prstGeom prst="rect">
            <a:avLst/>
          </a:prstGeom>
          <a:solidFill>
            <a:srgbClr val="EF5350"/>
          </a:solidFill>
          <a:ln w="12700">
            <a:solidFill>
              <a:srgbClr val="EF5350"/>
            </a:solidFill>
            <a:prstDash val="solid"/>
          </a:ln>
        </p:spPr>
      </p:sp>
      <p:sp>
        <p:nvSpPr>
          <p:cNvPr id="33" name="Text 31"/>
          <p:cNvSpPr/>
          <p:nvPr/>
        </p:nvSpPr>
        <p:spPr>
          <a:xfrm>
            <a:off x="347472" y="41148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Reporte gerencial semanal compilado manualmente de múltiples archivos</a:t>
            </a:r>
            <a:endParaRPr lang="en-US" sz="850" dirty="0"/>
          </a:p>
        </p:txBody>
      </p:sp>
      <p:sp>
        <p:nvSpPr>
          <p:cNvPr id="34" name="Shape 32"/>
          <p:cNvSpPr/>
          <p:nvPr/>
        </p:nvSpPr>
        <p:spPr>
          <a:xfrm>
            <a:off x="3273552" y="1975104"/>
            <a:ext cx="2944368" cy="256032"/>
          </a:xfrm>
          <a:prstGeom prst="rect">
            <a:avLst/>
          </a:prstGeom>
          <a:solidFill>
            <a:srgbClr val="3C91FF"/>
          </a:solidFill>
          <a:ln w="12700">
            <a:solidFill>
              <a:srgbClr val="3C91FF"/>
            </a:solidFill>
            <a:prstDash val="solid"/>
          </a:ln>
        </p:spPr>
      </p:sp>
      <p:sp>
        <p:nvSpPr>
          <p:cNvPr id="35" name="Text 33"/>
          <p:cNvSpPr/>
          <p:nvPr/>
        </p:nvSpPr>
        <p:spPr>
          <a:xfrm>
            <a:off x="3346704" y="1975104"/>
            <a:ext cx="2834640" cy="256032"/>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Enfoque Agéntico</a:t>
            </a:r>
            <a:endParaRPr lang="en-US" sz="900" dirty="0"/>
          </a:p>
        </p:txBody>
      </p:sp>
      <p:sp>
        <p:nvSpPr>
          <p:cNvPr id="36" name="Shape 34"/>
          <p:cNvSpPr/>
          <p:nvPr/>
        </p:nvSpPr>
        <p:spPr>
          <a:xfrm>
            <a:off x="3273552" y="2267712"/>
            <a:ext cx="2944368" cy="438912"/>
          </a:xfrm>
          <a:prstGeom prst="rect">
            <a:avLst/>
          </a:prstGeom>
          <a:solidFill>
            <a:srgbClr val="1E0D4A"/>
          </a:solidFill>
          <a:ln w="12700">
            <a:solidFill>
              <a:srgbClr val="1E0D4A"/>
            </a:solidFill>
            <a:prstDash val="solid"/>
          </a:ln>
        </p:spPr>
      </p:sp>
      <p:sp>
        <p:nvSpPr>
          <p:cNvPr id="37" name="Shape 35"/>
          <p:cNvSpPr/>
          <p:nvPr/>
        </p:nvSpPr>
        <p:spPr>
          <a:xfrm>
            <a:off x="3273552" y="2267712"/>
            <a:ext cx="45720" cy="438912"/>
          </a:xfrm>
          <a:prstGeom prst="rect">
            <a:avLst/>
          </a:prstGeom>
          <a:solidFill>
            <a:srgbClr val="3C91FF"/>
          </a:solidFill>
          <a:ln w="12700">
            <a:solidFill>
              <a:srgbClr val="3C91FF"/>
            </a:solidFill>
            <a:prstDash val="solid"/>
          </a:ln>
        </p:spPr>
      </p:sp>
      <p:sp>
        <p:nvSpPr>
          <p:cNvPr id="38" name="Text 36"/>
          <p:cNvSpPr/>
          <p:nvPr/>
        </p:nvSpPr>
        <p:spPr>
          <a:xfrm>
            <a:off x="3364992" y="22860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Orquestador coordina módulos de Finanzas y Cobros de extremo a extremo</a:t>
            </a:r>
            <a:endParaRPr lang="en-US" sz="850" dirty="0"/>
          </a:p>
        </p:txBody>
      </p:sp>
      <p:sp>
        <p:nvSpPr>
          <p:cNvPr id="39" name="Shape 37"/>
          <p:cNvSpPr/>
          <p:nvPr/>
        </p:nvSpPr>
        <p:spPr>
          <a:xfrm>
            <a:off x="3273552" y="2724912"/>
            <a:ext cx="2944368" cy="438912"/>
          </a:xfrm>
          <a:prstGeom prst="rect">
            <a:avLst/>
          </a:prstGeom>
          <a:solidFill>
            <a:srgbClr val="2D1870"/>
          </a:solidFill>
          <a:ln w="12700">
            <a:solidFill>
              <a:srgbClr val="1E0D4A"/>
            </a:solidFill>
            <a:prstDash val="solid"/>
          </a:ln>
        </p:spPr>
      </p:sp>
      <p:sp>
        <p:nvSpPr>
          <p:cNvPr id="40" name="Shape 38"/>
          <p:cNvSpPr/>
          <p:nvPr/>
        </p:nvSpPr>
        <p:spPr>
          <a:xfrm>
            <a:off x="3273552" y="2724912"/>
            <a:ext cx="45720" cy="438912"/>
          </a:xfrm>
          <a:prstGeom prst="rect">
            <a:avLst/>
          </a:prstGeom>
          <a:solidFill>
            <a:srgbClr val="3C91FF"/>
          </a:solidFill>
          <a:ln w="12700">
            <a:solidFill>
              <a:srgbClr val="3C91FF"/>
            </a:solidFill>
            <a:prstDash val="solid"/>
          </a:ln>
        </p:spPr>
      </p:sp>
      <p:sp>
        <p:nvSpPr>
          <p:cNvPr id="41" name="Text 39"/>
          <p:cNvSpPr/>
          <p:nvPr/>
        </p:nvSpPr>
        <p:spPr>
          <a:xfrm>
            <a:off x="3364992" y="27432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Agente de Conciliación empareja transacciones bancarias automáticamente</a:t>
            </a:r>
            <a:endParaRPr lang="en-US" sz="850" dirty="0"/>
          </a:p>
        </p:txBody>
      </p:sp>
      <p:sp>
        <p:nvSpPr>
          <p:cNvPr id="42" name="Shape 40"/>
          <p:cNvSpPr/>
          <p:nvPr/>
        </p:nvSpPr>
        <p:spPr>
          <a:xfrm>
            <a:off x="3273552" y="3182112"/>
            <a:ext cx="2944368" cy="438912"/>
          </a:xfrm>
          <a:prstGeom prst="rect">
            <a:avLst/>
          </a:prstGeom>
          <a:solidFill>
            <a:srgbClr val="1E0D4A"/>
          </a:solidFill>
          <a:ln w="12700">
            <a:solidFill>
              <a:srgbClr val="1E0D4A"/>
            </a:solidFill>
            <a:prstDash val="solid"/>
          </a:ln>
        </p:spPr>
      </p:sp>
      <p:sp>
        <p:nvSpPr>
          <p:cNvPr id="43" name="Shape 41"/>
          <p:cNvSpPr/>
          <p:nvPr/>
        </p:nvSpPr>
        <p:spPr>
          <a:xfrm>
            <a:off x="3273552" y="3182112"/>
            <a:ext cx="45720" cy="438912"/>
          </a:xfrm>
          <a:prstGeom prst="rect">
            <a:avLst/>
          </a:prstGeom>
          <a:solidFill>
            <a:srgbClr val="3C91FF"/>
          </a:solidFill>
          <a:ln w="12700">
            <a:solidFill>
              <a:srgbClr val="3C91FF"/>
            </a:solidFill>
            <a:prstDash val="solid"/>
          </a:ln>
        </p:spPr>
      </p:sp>
      <p:sp>
        <p:nvSpPr>
          <p:cNvPr id="44" name="Text 42"/>
          <p:cNvSpPr/>
          <p:nvPr/>
        </p:nvSpPr>
        <p:spPr>
          <a:xfrm>
            <a:off x="3364992" y="32004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Agente de Notificaciones despacha WhatsApp + correo según plan de pagos</a:t>
            </a:r>
            <a:endParaRPr lang="en-US" sz="850" dirty="0"/>
          </a:p>
        </p:txBody>
      </p:sp>
      <p:sp>
        <p:nvSpPr>
          <p:cNvPr id="45" name="Shape 43"/>
          <p:cNvSpPr/>
          <p:nvPr/>
        </p:nvSpPr>
        <p:spPr>
          <a:xfrm>
            <a:off x="3273552" y="3639312"/>
            <a:ext cx="2944368" cy="438912"/>
          </a:xfrm>
          <a:prstGeom prst="rect">
            <a:avLst/>
          </a:prstGeom>
          <a:solidFill>
            <a:srgbClr val="2D1870"/>
          </a:solidFill>
          <a:ln w="12700">
            <a:solidFill>
              <a:srgbClr val="1E0D4A"/>
            </a:solidFill>
            <a:prstDash val="solid"/>
          </a:ln>
        </p:spPr>
      </p:sp>
      <p:sp>
        <p:nvSpPr>
          <p:cNvPr id="46" name="Shape 44"/>
          <p:cNvSpPr/>
          <p:nvPr/>
        </p:nvSpPr>
        <p:spPr>
          <a:xfrm>
            <a:off x="3273552" y="3639312"/>
            <a:ext cx="45720" cy="438912"/>
          </a:xfrm>
          <a:prstGeom prst="rect">
            <a:avLst/>
          </a:prstGeom>
          <a:solidFill>
            <a:srgbClr val="3C91FF"/>
          </a:solidFill>
          <a:ln w="12700">
            <a:solidFill>
              <a:srgbClr val="3C91FF"/>
            </a:solidFill>
            <a:prstDash val="solid"/>
          </a:ln>
        </p:spPr>
      </p:sp>
      <p:sp>
        <p:nvSpPr>
          <p:cNvPr id="47" name="Text 45"/>
          <p:cNvSpPr/>
          <p:nvPr/>
        </p:nvSpPr>
        <p:spPr>
          <a:xfrm>
            <a:off x="3364992" y="36576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Lógica de escalación en Día +1, +6, +16 sin seguimiento manual</a:t>
            </a:r>
            <a:endParaRPr lang="en-US" sz="850" dirty="0"/>
          </a:p>
        </p:txBody>
      </p:sp>
      <p:sp>
        <p:nvSpPr>
          <p:cNvPr id="48" name="Shape 46"/>
          <p:cNvSpPr/>
          <p:nvPr/>
        </p:nvSpPr>
        <p:spPr>
          <a:xfrm>
            <a:off x="3273552" y="4096512"/>
            <a:ext cx="2944368" cy="438912"/>
          </a:xfrm>
          <a:prstGeom prst="rect">
            <a:avLst/>
          </a:prstGeom>
          <a:solidFill>
            <a:srgbClr val="1E0D4A"/>
          </a:solidFill>
          <a:ln w="12700">
            <a:solidFill>
              <a:srgbClr val="1E0D4A"/>
            </a:solidFill>
            <a:prstDash val="solid"/>
          </a:ln>
        </p:spPr>
      </p:sp>
      <p:sp>
        <p:nvSpPr>
          <p:cNvPr id="49" name="Shape 47"/>
          <p:cNvSpPr/>
          <p:nvPr/>
        </p:nvSpPr>
        <p:spPr>
          <a:xfrm>
            <a:off x="3273552" y="4096512"/>
            <a:ext cx="45720" cy="438912"/>
          </a:xfrm>
          <a:prstGeom prst="rect">
            <a:avLst/>
          </a:prstGeom>
          <a:solidFill>
            <a:srgbClr val="3C91FF"/>
          </a:solidFill>
          <a:ln w="12700">
            <a:solidFill>
              <a:srgbClr val="3C91FF"/>
            </a:solidFill>
            <a:prstDash val="solid"/>
          </a:ln>
        </p:spPr>
      </p:sp>
      <p:sp>
        <p:nvSpPr>
          <p:cNvPr id="50" name="Text 48"/>
          <p:cNvSpPr/>
          <p:nvPr/>
        </p:nvSpPr>
        <p:spPr>
          <a:xfrm>
            <a:off x="3364992" y="41148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Agente de Reportes compila y envía reporte PDF semanal automáticamente</a:t>
            </a:r>
            <a:endParaRPr lang="en-US" sz="850" dirty="0"/>
          </a:p>
        </p:txBody>
      </p:sp>
      <p:sp>
        <p:nvSpPr>
          <p:cNvPr id="51" name="Shape 49"/>
          <p:cNvSpPr/>
          <p:nvPr/>
        </p:nvSpPr>
        <p:spPr>
          <a:xfrm>
            <a:off x="6291072" y="1975104"/>
            <a:ext cx="2944368" cy="256032"/>
          </a:xfrm>
          <a:prstGeom prst="rect">
            <a:avLst/>
          </a:prstGeom>
          <a:solidFill>
            <a:srgbClr val="00C853"/>
          </a:solidFill>
          <a:ln w="12700">
            <a:solidFill>
              <a:srgbClr val="00C853"/>
            </a:solidFill>
            <a:prstDash val="solid"/>
          </a:ln>
        </p:spPr>
      </p:sp>
      <p:sp>
        <p:nvSpPr>
          <p:cNvPr id="52" name="Text 50"/>
          <p:cNvSpPr/>
          <p:nvPr/>
        </p:nvSpPr>
        <p:spPr>
          <a:xfrm>
            <a:off x="6364224" y="1975104"/>
            <a:ext cx="2834640" cy="256032"/>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Valor Entregado</a:t>
            </a:r>
            <a:endParaRPr lang="en-US" sz="900" dirty="0"/>
          </a:p>
        </p:txBody>
      </p:sp>
      <p:sp>
        <p:nvSpPr>
          <p:cNvPr id="53" name="Shape 51"/>
          <p:cNvSpPr/>
          <p:nvPr/>
        </p:nvSpPr>
        <p:spPr>
          <a:xfrm>
            <a:off x="6291072" y="2267712"/>
            <a:ext cx="2944368" cy="438912"/>
          </a:xfrm>
          <a:prstGeom prst="rect">
            <a:avLst/>
          </a:prstGeom>
          <a:solidFill>
            <a:srgbClr val="1E0D4A"/>
          </a:solidFill>
          <a:ln w="12700">
            <a:solidFill>
              <a:srgbClr val="1E0D4A"/>
            </a:solidFill>
            <a:prstDash val="solid"/>
          </a:ln>
        </p:spPr>
      </p:sp>
      <p:sp>
        <p:nvSpPr>
          <p:cNvPr id="54" name="Shape 52"/>
          <p:cNvSpPr/>
          <p:nvPr/>
        </p:nvSpPr>
        <p:spPr>
          <a:xfrm>
            <a:off x="6291072" y="2267712"/>
            <a:ext cx="45720" cy="438912"/>
          </a:xfrm>
          <a:prstGeom prst="rect">
            <a:avLst/>
          </a:prstGeom>
          <a:solidFill>
            <a:srgbClr val="00C853"/>
          </a:solidFill>
          <a:ln w="12700">
            <a:solidFill>
              <a:srgbClr val="00C853"/>
            </a:solidFill>
            <a:prstDash val="solid"/>
          </a:ln>
        </p:spPr>
      </p:sp>
      <p:sp>
        <p:nvSpPr>
          <p:cNvPr id="55" name="Text 53"/>
          <p:cNvSpPr/>
          <p:nvPr/>
        </p:nvSpPr>
        <p:spPr>
          <a:xfrm>
            <a:off x="6382512" y="22860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Tiempo del oficial liberado de captura manual hacia revisión de excepciones</a:t>
            </a:r>
            <a:endParaRPr lang="en-US" sz="850" dirty="0"/>
          </a:p>
        </p:txBody>
      </p:sp>
      <p:sp>
        <p:nvSpPr>
          <p:cNvPr id="56" name="Shape 54"/>
          <p:cNvSpPr/>
          <p:nvPr/>
        </p:nvSpPr>
        <p:spPr>
          <a:xfrm>
            <a:off x="6291072" y="2724912"/>
            <a:ext cx="2944368" cy="438912"/>
          </a:xfrm>
          <a:prstGeom prst="rect">
            <a:avLst/>
          </a:prstGeom>
          <a:solidFill>
            <a:srgbClr val="2D1870"/>
          </a:solidFill>
          <a:ln w="12700">
            <a:solidFill>
              <a:srgbClr val="1E0D4A"/>
            </a:solidFill>
            <a:prstDash val="solid"/>
          </a:ln>
        </p:spPr>
      </p:sp>
      <p:sp>
        <p:nvSpPr>
          <p:cNvPr id="57" name="Shape 55"/>
          <p:cNvSpPr/>
          <p:nvPr/>
        </p:nvSpPr>
        <p:spPr>
          <a:xfrm>
            <a:off x="6291072" y="2724912"/>
            <a:ext cx="45720" cy="438912"/>
          </a:xfrm>
          <a:prstGeom prst="rect">
            <a:avLst/>
          </a:prstGeom>
          <a:solidFill>
            <a:srgbClr val="00C853"/>
          </a:solidFill>
          <a:ln w="12700">
            <a:solidFill>
              <a:srgbClr val="00C853"/>
            </a:solidFill>
            <a:prstDash val="solid"/>
          </a:ln>
        </p:spPr>
      </p:sp>
      <p:sp>
        <p:nvSpPr>
          <p:cNvPr id="58" name="Text 56"/>
          <p:cNvSpPr/>
          <p:nvPr/>
        </p:nvSpPr>
        <p:spPr>
          <a:xfrm>
            <a:off x="6382512" y="27432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Meta: 90%+ de transacciones conciliadas automáticamente</a:t>
            </a:r>
            <a:endParaRPr lang="en-US" sz="850" dirty="0"/>
          </a:p>
        </p:txBody>
      </p:sp>
      <p:sp>
        <p:nvSpPr>
          <p:cNvPr id="59" name="Shape 57"/>
          <p:cNvSpPr/>
          <p:nvPr/>
        </p:nvSpPr>
        <p:spPr>
          <a:xfrm>
            <a:off x="6291072" y="3182112"/>
            <a:ext cx="2944368" cy="438912"/>
          </a:xfrm>
          <a:prstGeom prst="rect">
            <a:avLst/>
          </a:prstGeom>
          <a:solidFill>
            <a:srgbClr val="1E0D4A"/>
          </a:solidFill>
          <a:ln w="12700">
            <a:solidFill>
              <a:srgbClr val="1E0D4A"/>
            </a:solidFill>
            <a:prstDash val="solid"/>
          </a:ln>
        </p:spPr>
      </p:sp>
      <p:sp>
        <p:nvSpPr>
          <p:cNvPr id="60" name="Shape 58"/>
          <p:cNvSpPr/>
          <p:nvPr/>
        </p:nvSpPr>
        <p:spPr>
          <a:xfrm>
            <a:off x="6291072" y="3182112"/>
            <a:ext cx="45720" cy="438912"/>
          </a:xfrm>
          <a:prstGeom prst="rect">
            <a:avLst/>
          </a:prstGeom>
          <a:solidFill>
            <a:srgbClr val="00C853"/>
          </a:solidFill>
          <a:ln w="12700">
            <a:solidFill>
              <a:srgbClr val="00C853"/>
            </a:solidFill>
            <a:prstDash val="solid"/>
          </a:ln>
        </p:spPr>
      </p:sp>
      <p:sp>
        <p:nvSpPr>
          <p:cNvPr id="61" name="Text 59"/>
          <p:cNvSpPr/>
          <p:nvPr/>
        </p:nvSpPr>
        <p:spPr>
          <a:xfrm>
            <a:off x="6382512" y="32004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Cero recordatorios de pago omitidos — cada cuota monitoreada</a:t>
            </a:r>
            <a:endParaRPr lang="en-US" sz="850" dirty="0"/>
          </a:p>
        </p:txBody>
      </p:sp>
      <p:sp>
        <p:nvSpPr>
          <p:cNvPr id="62" name="Shape 60"/>
          <p:cNvSpPr/>
          <p:nvPr/>
        </p:nvSpPr>
        <p:spPr>
          <a:xfrm>
            <a:off x="6291072" y="3639312"/>
            <a:ext cx="2944368" cy="438912"/>
          </a:xfrm>
          <a:prstGeom prst="rect">
            <a:avLst/>
          </a:prstGeom>
          <a:solidFill>
            <a:srgbClr val="2D1870"/>
          </a:solidFill>
          <a:ln w="12700">
            <a:solidFill>
              <a:srgbClr val="1E0D4A"/>
            </a:solidFill>
            <a:prstDash val="solid"/>
          </a:ln>
        </p:spPr>
      </p:sp>
      <p:sp>
        <p:nvSpPr>
          <p:cNvPr id="63" name="Shape 61"/>
          <p:cNvSpPr/>
          <p:nvPr/>
        </p:nvSpPr>
        <p:spPr>
          <a:xfrm>
            <a:off x="6291072" y="3639312"/>
            <a:ext cx="45720" cy="438912"/>
          </a:xfrm>
          <a:prstGeom prst="rect">
            <a:avLst/>
          </a:prstGeom>
          <a:solidFill>
            <a:srgbClr val="00C853"/>
          </a:solidFill>
          <a:ln w="12700">
            <a:solidFill>
              <a:srgbClr val="00C853"/>
            </a:solidFill>
            <a:prstDash val="solid"/>
          </a:ln>
        </p:spPr>
      </p:sp>
      <p:sp>
        <p:nvSpPr>
          <p:cNvPr id="64" name="Text 62"/>
          <p:cNvSpPr/>
          <p:nvPr/>
        </p:nvSpPr>
        <p:spPr>
          <a:xfrm>
            <a:off x="6382512" y="36576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Gerencia notificada antes de que la cartera se deteriore</a:t>
            </a:r>
            <a:endParaRPr lang="en-US" sz="850" dirty="0"/>
          </a:p>
        </p:txBody>
      </p:sp>
      <p:sp>
        <p:nvSpPr>
          <p:cNvPr id="65" name="Shape 63"/>
          <p:cNvSpPr/>
          <p:nvPr/>
        </p:nvSpPr>
        <p:spPr>
          <a:xfrm>
            <a:off x="6291072" y="4096512"/>
            <a:ext cx="2944368" cy="438912"/>
          </a:xfrm>
          <a:prstGeom prst="rect">
            <a:avLst/>
          </a:prstGeom>
          <a:solidFill>
            <a:srgbClr val="1E0D4A"/>
          </a:solidFill>
          <a:ln w="12700">
            <a:solidFill>
              <a:srgbClr val="1E0D4A"/>
            </a:solidFill>
            <a:prstDash val="solid"/>
          </a:ln>
        </p:spPr>
      </p:sp>
      <p:sp>
        <p:nvSpPr>
          <p:cNvPr id="66" name="Shape 64"/>
          <p:cNvSpPr/>
          <p:nvPr/>
        </p:nvSpPr>
        <p:spPr>
          <a:xfrm>
            <a:off x="6291072" y="4096512"/>
            <a:ext cx="45720" cy="438912"/>
          </a:xfrm>
          <a:prstGeom prst="rect">
            <a:avLst/>
          </a:prstGeom>
          <a:solidFill>
            <a:srgbClr val="00C853"/>
          </a:solidFill>
          <a:ln w="12700">
            <a:solidFill>
              <a:srgbClr val="00C853"/>
            </a:solidFill>
            <a:prstDash val="solid"/>
          </a:ln>
        </p:spPr>
      </p:sp>
      <p:sp>
        <p:nvSpPr>
          <p:cNvPr id="67" name="Text 65"/>
          <p:cNvSpPr/>
          <p:nvPr/>
        </p:nvSpPr>
        <p:spPr>
          <a:xfrm>
            <a:off x="6382512" y="4114800"/>
            <a:ext cx="2788920"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Dashboard ejecutivo en tiempo real reemplaza compilación semanal</a:t>
            </a:r>
            <a:endParaRPr lang="en-US" sz="850" dirty="0"/>
          </a:p>
        </p:txBody>
      </p:sp>
      <p:sp>
        <p:nvSpPr>
          <p:cNvPr id="68" name="Shape 66"/>
          <p:cNvSpPr/>
          <p:nvPr/>
        </p:nvSpPr>
        <p:spPr>
          <a:xfrm>
            <a:off x="256032" y="4553712"/>
            <a:ext cx="201168" cy="219456"/>
          </a:xfrm>
          <a:prstGeom prst="rect">
            <a:avLst/>
          </a:prstGeom>
          <a:solidFill>
            <a:srgbClr val="8C69F0"/>
          </a:solidFill>
          <a:ln w="12700">
            <a:solidFill>
              <a:srgbClr val="8C69F0"/>
            </a:solidFill>
            <a:prstDash val="solid"/>
          </a:ln>
        </p:spPr>
      </p:sp>
      <p:sp>
        <p:nvSpPr>
          <p:cNvPr id="69" name="Text 67"/>
          <p:cNvSpPr/>
          <p:nvPr/>
        </p:nvSpPr>
        <p:spPr>
          <a:xfrm>
            <a:off x="347472" y="4672584"/>
            <a:ext cx="1371600" cy="219456"/>
          </a:xfrm>
          <a:prstGeom prst="rect">
            <a:avLst/>
          </a:prstGeom>
          <a:noFill/>
          <a:ln/>
        </p:spPr>
        <p:txBody>
          <a:bodyPr wrap="square" rtlCol="0" anchor="ctr"/>
          <a:lstStyle/>
          <a:p>
            <a:pPr indent="0" marL="0">
              <a:buNone/>
            </a:pPr>
            <a:r>
              <a:rPr lang="en-US" sz="700" b="1" dirty="0">
                <a:solidFill>
                  <a:srgbClr val="8C69F0"/>
                </a:solidFill>
                <a:latin typeface="Arial" pitchFamily="34" charset="0"/>
                <a:ea typeface="Arial" pitchFamily="34" charset="-122"/>
                <a:cs typeface="Arial" pitchFamily="34" charset="-120"/>
              </a:rPr>
              <a:t>Historia de Usuario  </a:t>
            </a:r>
            <a:endParaRPr lang="en-US" sz="700" dirty="0"/>
          </a:p>
        </p:txBody>
      </p:sp>
      <p:sp>
        <p:nvSpPr>
          <p:cNvPr id="70" name="Text 68"/>
          <p:cNvSpPr/>
          <p:nvPr/>
        </p:nvSpPr>
        <p:spPr>
          <a:xfrm>
            <a:off x="1664208" y="4672584"/>
            <a:ext cx="7040880" cy="219456"/>
          </a:xfrm>
          <a:prstGeom prst="rect">
            <a:avLst/>
          </a:prstGeom>
          <a:noFill/>
          <a:ln/>
        </p:spPr>
        <p:txBody>
          <a:bodyPr wrap="square" rtlCol="0" anchor="ctr"/>
          <a:lstStyle/>
          <a:p>
            <a:pPr indent="0" marL="0">
              <a:buNone/>
            </a:pPr>
            <a:r>
              <a:rPr lang="en-US" sz="750" i="1" dirty="0">
                <a:solidFill>
                  <a:srgbClr val="B0BEC5"/>
                </a:solidFill>
                <a:latin typeface="Arial" pitchFamily="34" charset="0"/>
                <a:ea typeface="Arial" pitchFamily="34" charset="-122"/>
                <a:cs typeface="Arial" pitchFamily="34" charset="-120"/>
              </a:rPr>
              <a:t>Como oficial de cobros de DUPE, quiero que el sistema concilie transacciones y envíe recordatorios automáticamente para enfocarme en excepciones y relaciones con clientes.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Flujo del Proceso — De Extremo a Extremo</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Desde la fuente de datos hasta el output del negocio · qué construimos vs. qué orquestamos</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3</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pic>
        <p:nvPicPr>
          <p:cNvPr id="15" name="Image 0" descr="preencoded.png">    </p:cNvPr>
          <p:cNvPicPr>
            <a:picLocks noChangeAspect="1"/>
          </p:cNvPicPr>
          <p:nvPr/>
        </p:nvPicPr>
        <p:blipFill>
          <a:blip r:embed="rId1"/>
          <a:stretch>
            <a:fillRect/>
          </a:stretch>
        </p:blipFill>
        <p:spPr>
          <a:xfrm>
            <a:off x="164592" y="1115568"/>
            <a:ext cx="8814816" cy="3657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Modelo Multi-Agente de Orquestación</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Agentes especializados invocados como herramientas controladas por el Orquestador</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4</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4" name="Shape 12"/>
          <p:cNvSpPr/>
          <p:nvPr/>
        </p:nvSpPr>
        <p:spPr>
          <a:xfrm>
            <a:off x="4572000" y="1097280"/>
            <a:ext cx="4315968" cy="310896"/>
          </a:xfrm>
          <a:prstGeom prst="rect">
            <a:avLst/>
          </a:prstGeom>
          <a:solidFill>
            <a:srgbClr val="5F1EBE"/>
          </a:solidFill>
          <a:ln w="12700">
            <a:solidFill>
              <a:srgbClr val="5F1EBE"/>
            </a:solidFill>
            <a:prstDash val="solid"/>
          </a:ln>
        </p:spPr>
      </p:sp>
      <p:sp>
        <p:nvSpPr>
          <p:cNvPr id="15" name="Text 13"/>
          <p:cNvSpPr/>
          <p:nvPr/>
        </p:nvSpPr>
        <p:spPr>
          <a:xfrm>
            <a:off x="4645152" y="1097280"/>
            <a:ext cx="4169664" cy="310896"/>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Responsabilidades de los Agentes</a:t>
            </a:r>
            <a:endParaRPr lang="en-US" sz="900" dirty="0"/>
          </a:p>
        </p:txBody>
      </p:sp>
      <p:sp>
        <p:nvSpPr>
          <p:cNvPr id="16" name="Shape 14"/>
          <p:cNvSpPr/>
          <p:nvPr/>
        </p:nvSpPr>
        <p:spPr>
          <a:xfrm>
            <a:off x="4572000" y="1444752"/>
            <a:ext cx="4315968" cy="566928"/>
          </a:xfrm>
          <a:prstGeom prst="rect">
            <a:avLst/>
          </a:prstGeom>
          <a:solidFill>
            <a:srgbClr val="1E0D4A"/>
          </a:solidFill>
          <a:ln w="12700">
            <a:solidFill>
              <a:srgbClr val="1E0D4A"/>
            </a:solidFill>
            <a:prstDash val="solid"/>
          </a:ln>
        </p:spPr>
      </p:sp>
      <p:sp>
        <p:nvSpPr>
          <p:cNvPr id="17" name="Shape 15"/>
          <p:cNvSpPr/>
          <p:nvPr/>
        </p:nvSpPr>
        <p:spPr>
          <a:xfrm>
            <a:off x="4572000" y="1444752"/>
            <a:ext cx="45720" cy="566928"/>
          </a:xfrm>
          <a:prstGeom prst="rect">
            <a:avLst/>
          </a:prstGeom>
          <a:solidFill>
            <a:srgbClr val="3C91FF"/>
          </a:solidFill>
          <a:ln w="12700">
            <a:solidFill>
              <a:srgbClr val="3C91FF"/>
            </a:solidFill>
            <a:prstDash val="solid"/>
          </a:ln>
        </p:spPr>
      </p:sp>
      <p:sp>
        <p:nvSpPr>
          <p:cNvPr id="18" name="Text 16"/>
          <p:cNvSpPr/>
          <p:nvPr/>
        </p:nvSpPr>
        <p:spPr>
          <a:xfrm>
            <a:off x="4645152" y="1472184"/>
            <a:ext cx="4160520" cy="201168"/>
          </a:xfrm>
          <a:prstGeom prst="rect">
            <a:avLst/>
          </a:prstGeom>
          <a:noFill/>
          <a:ln/>
        </p:spPr>
        <p:txBody>
          <a:bodyPr wrap="square" rtlCol="0" anchor="ctr"/>
          <a:lstStyle/>
          <a:p>
            <a:pPr indent="0" marL="0">
              <a:buNone/>
            </a:pPr>
            <a:r>
              <a:rPr lang="en-US" sz="850" b="1" dirty="0">
                <a:solidFill>
                  <a:srgbClr val="3C91FF"/>
                </a:solidFill>
                <a:latin typeface="Arial" pitchFamily="34" charset="0"/>
                <a:ea typeface="Arial" pitchFamily="34" charset="-122"/>
                <a:cs typeface="Arial" pitchFamily="34" charset="-120"/>
              </a:rPr>
              <a:t>Agente de Conciliación</a:t>
            </a:r>
            <a:endParaRPr lang="en-US" sz="850" dirty="0"/>
          </a:p>
        </p:txBody>
      </p:sp>
      <p:sp>
        <p:nvSpPr>
          <p:cNvPr id="19" name="Text 17"/>
          <p:cNvSpPr/>
          <p:nvPr/>
        </p:nvSpPr>
        <p:spPr>
          <a:xfrm>
            <a:off x="4645152" y="1673352"/>
            <a:ext cx="4160520" cy="310896"/>
          </a:xfrm>
          <a:prstGeom prst="rect">
            <a:avLst/>
          </a:prstGeom>
          <a:noFill/>
          <a:ln/>
        </p:spPr>
        <p:txBody>
          <a:bodyPr wrap="square" rtlCol="0" anchor="ctr"/>
          <a:lstStyle/>
          <a:p>
            <a:pPr indent="0" marL="0">
              <a:buNone/>
            </a:pPr>
            <a:r>
              <a:rPr lang="en-US" sz="750" dirty="0">
                <a:solidFill>
                  <a:srgbClr val="B0BEC5"/>
                </a:solidFill>
                <a:latin typeface="Arial" pitchFamily="34" charset="0"/>
                <a:ea typeface="Arial" pitchFamily="34" charset="-122"/>
                <a:cs typeface="Arial" pitchFamily="34" charset="-120"/>
              </a:rPr>
              <a:t>Empareja transacciones bancarias a partidas; puntúa confianza; aprende de decisiones del oficial</a:t>
            </a:r>
            <a:endParaRPr lang="en-US" sz="750" dirty="0"/>
          </a:p>
        </p:txBody>
      </p:sp>
      <p:sp>
        <p:nvSpPr>
          <p:cNvPr id="20" name="Shape 18"/>
          <p:cNvSpPr/>
          <p:nvPr/>
        </p:nvSpPr>
        <p:spPr>
          <a:xfrm>
            <a:off x="4572000" y="2048256"/>
            <a:ext cx="4315968" cy="566928"/>
          </a:xfrm>
          <a:prstGeom prst="rect">
            <a:avLst/>
          </a:prstGeom>
          <a:solidFill>
            <a:srgbClr val="2D1870"/>
          </a:solidFill>
          <a:ln w="12700">
            <a:solidFill>
              <a:srgbClr val="1E0D4A"/>
            </a:solidFill>
            <a:prstDash val="solid"/>
          </a:ln>
        </p:spPr>
      </p:sp>
      <p:sp>
        <p:nvSpPr>
          <p:cNvPr id="21" name="Shape 19"/>
          <p:cNvSpPr/>
          <p:nvPr/>
        </p:nvSpPr>
        <p:spPr>
          <a:xfrm>
            <a:off x="4572000" y="2048256"/>
            <a:ext cx="45720" cy="566928"/>
          </a:xfrm>
          <a:prstGeom prst="rect">
            <a:avLst/>
          </a:prstGeom>
          <a:solidFill>
            <a:srgbClr val="00C853"/>
          </a:solidFill>
          <a:ln w="12700">
            <a:solidFill>
              <a:srgbClr val="00C853"/>
            </a:solidFill>
            <a:prstDash val="solid"/>
          </a:ln>
        </p:spPr>
      </p:sp>
      <p:sp>
        <p:nvSpPr>
          <p:cNvPr id="22" name="Text 20"/>
          <p:cNvSpPr/>
          <p:nvPr/>
        </p:nvSpPr>
        <p:spPr>
          <a:xfrm>
            <a:off x="4645152" y="2075688"/>
            <a:ext cx="4160520" cy="201168"/>
          </a:xfrm>
          <a:prstGeom prst="rect">
            <a:avLst/>
          </a:prstGeom>
          <a:noFill/>
          <a:ln/>
        </p:spPr>
        <p:txBody>
          <a:bodyPr wrap="square" rtlCol="0" anchor="ctr"/>
          <a:lstStyle/>
          <a:p>
            <a:pPr indent="0" marL="0">
              <a:buNone/>
            </a:pPr>
            <a:r>
              <a:rPr lang="en-US" sz="850" b="1" dirty="0">
                <a:solidFill>
                  <a:srgbClr val="00C853"/>
                </a:solidFill>
                <a:latin typeface="Arial" pitchFamily="34" charset="0"/>
                <a:ea typeface="Arial" pitchFamily="34" charset="-122"/>
                <a:cs typeface="Arial" pitchFamily="34" charset="-120"/>
              </a:rPr>
              <a:t>Agente de Notificaciones</a:t>
            </a:r>
            <a:endParaRPr lang="en-US" sz="850" dirty="0"/>
          </a:p>
        </p:txBody>
      </p:sp>
      <p:sp>
        <p:nvSpPr>
          <p:cNvPr id="23" name="Text 21"/>
          <p:cNvSpPr/>
          <p:nvPr/>
        </p:nvSpPr>
        <p:spPr>
          <a:xfrm>
            <a:off x="4645152" y="2276856"/>
            <a:ext cx="4160520" cy="310896"/>
          </a:xfrm>
          <a:prstGeom prst="rect">
            <a:avLst/>
          </a:prstGeom>
          <a:noFill/>
          <a:ln/>
        </p:spPr>
        <p:txBody>
          <a:bodyPr wrap="square" rtlCol="0" anchor="ctr"/>
          <a:lstStyle/>
          <a:p>
            <a:pPr indent="0" marL="0">
              <a:buNone/>
            </a:pPr>
            <a:r>
              <a:rPr lang="en-US" sz="750" dirty="0">
                <a:solidFill>
                  <a:srgbClr val="B0BEC5"/>
                </a:solidFill>
                <a:latin typeface="Arial" pitchFamily="34" charset="0"/>
                <a:ea typeface="Arial" pitchFamily="34" charset="-122"/>
                <a:cs typeface="Arial" pitchFamily="34" charset="-120"/>
              </a:rPr>
              <a:t>Escanea planes de pago diariamente; despacha WhatsApp y correo; registra estado de entrega</a:t>
            </a:r>
            <a:endParaRPr lang="en-US" sz="750" dirty="0"/>
          </a:p>
        </p:txBody>
      </p:sp>
      <p:sp>
        <p:nvSpPr>
          <p:cNvPr id="24" name="Shape 22"/>
          <p:cNvSpPr/>
          <p:nvPr/>
        </p:nvSpPr>
        <p:spPr>
          <a:xfrm>
            <a:off x="4572000" y="2651760"/>
            <a:ext cx="4315968" cy="566928"/>
          </a:xfrm>
          <a:prstGeom prst="rect">
            <a:avLst/>
          </a:prstGeom>
          <a:solidFill>
            <a:srgbClr val="1E0D4A"/>
          </a:solidFill>
          <a:ln w="12700">
            <a:solidFill>
              <a:srgbClr val="1E0D4A"/>
            </a:solidFill>
            <a:prstDash val="solid"/>
          </a:ln>
        </p:spPr>
      </p:sp>
      <p:sp>
        <p:nvSpPr>
          <p:cNvPr id="25" name="Shape 23"/>
          <p:cNvSpPr/>
          <p:nvPr/>
        </p:nvSpPr>
        <p:spPr>
          <a:xfrm>
            <a:off x="4572000" y="2651760"/>
            <a:ext cx="45720" cy="566928"/>
          </a:xfrm>
          <a:prstGeom prst="rect">
            <a:avLst/>
          </a:prstGeom>
          <a:solidFill>
            <a:srgbClr val="8C69F0"/>
          </a:solidFill>
          <a:ln w="12700">
            <a:solidFill>
              <a:srgbClr val="8C69F0"/>
            </a:solidFill>
            <a:prstDash val="solid"/>
          </a:ln>
        </p:spPr>
      </p:sp>
      <p:sp>
        <p:nvSpPr>
          <p:cNvPr id="26" name="Text 24"/>
          <p:cNvSpPr/>
          <p:nvPr/>
        </p:nvSpPr>
        <p:spPr>
          <a:xfrm>
            <a:off x="4645152" y="2679192"/>
            <a:ext cx="4160520" cy="201168"/>
          </a:xfrm>
          <a:prstGeom prst="rect">
            <a:avLst/>
          </a:prstGeom>
          <a:noFill/>
          <a:ln/>
        </p:spPr>
        <p:txBody>
          <a:bodyPr wrap="square" rtlCol="0" anchor="ctr"/>
          <a:lstStyle/>
          <a:p>
            <a:pPr indent="0" marL="0">
              <a:buNone/>
            </a:pPr>
            <a:r>
              <a:rPr lang="en-US" sz="850" b="1" dirty="0">
                <a:solidFill>
                  <a:srgbClr val="8C69F0"/>
                </a:solidFill>
                <a:latin typeface="Arial" pitchFamily="34" charset="0"/>
                <a:ea typeface="Arial" pitchFamily="34" charset="-122"/>
                <a:cs typeface="Arial" pitchFamily="34" charset="-120"/>
              </a:rPr>
              <a:t>Agente de Inteligencia Fin.</a:t>
            </a:r>
            <a:endParaRPr lang="en-US" sz="850" dirty="0"/>
          </a:p>
        </p:txBody>
      </p:sp>
      <p:sp>
        <p:nvSpPr>
          <p:cNvPr id="27" name="Text 25"/>
          <p:cNvSpPr/>
          <p:nvPr/>
        </p:nvSpPr>
        <p:spPr>
          <a:xfrm>
            <a:off x="4645152" y="2880360"/>
            <a:ext cx="4160520" cy="310896"/>
          </a:xfrm>
          <a:prstGeom prst="rect">
            <a:avLst/>
          </a:prstGeom>
          <a:noFill/>
          <a:ln/>
        </p:spPr>
        <p:txBody>
          <a:bodyPr wrap="square" rtlCol="0" anchor="ctr"/>
          <a:lstStyle/>
          <a:p>
            <a:pPr indent="0" marL="0">
              <a:buNone/>
            </a:pPr>
            <a:r>
              <a:rPr lang="en-US" sz="750" dirty="0">
                <a:solidFill>
                  <a:srgbClr val="B0BEC5"/>
                </a:solidFill>
                <a:latin typeface="Arial" pitchFamily="34" charset="0"/>
                <a:ea typeface="Arial" pitchFamily="34" charset="-122"/>
                <a:cs typeface="Arial" pitchFamily="34" charset="-120"/>
              </a:rPr>
              <a:t>Monitorea ejecución vs. presupuesto; calcula desviaciones; asigna estado semaforizado por partida</a:t>
            </a:r>
            <a:endParaRPr lang="en-US" sz="750" dirty="0"/>
          </a:p>
        </p:txBody>
      </p:sp>
      <p:sp>
        <p:nvSpPr>
          <p:cNvPr id="28" name="Shape 26"/>
          <p:cNvSpPr/>
          <p:nvPr/>
        </p:nvSpPr>
        <p:spPr>
          <a:xfrm>
            <a:off x="4572000" y="3255264"/>
            <a:ext cx="4315968" cy="566928"/>
          </a:xfrm>
          <a:prstGeom prst="rect">
            <a:avLst/>
          </a:prstGeom>
          <a:solidFill>
            <a:srgbClr val="2D1870"/>
          </a:solidFill>
          <a:ln w="12700">
            <a:solidFill>
              <a:srgbClr val="1E0D4A"/>
            </a:solidFill>
            <a:prstDash val="solid"/>
          </a:ln>
        </p:spPr>
      </p:sp>
      <p:sp>
        <p:nvSpPr>
          <p:cNvPr id="29" name="Shape 27"/>
          <p:cNvSpPr/>
          <p:nvPr/>
        </p:nvSpPr>
        <p:spPr>
          <a:xfrm>
            <a:off x="4572000" y="3255264"/>
            <a:ext cx="45720" cy="566928"/>
          </a:xfrm>
          <a:prstGeom prst="rect">
            <a:avLst/>
          </a:prstGeom>
          <a:solidFill>
            <a:srgbClr val="EF5350"/>
          </a:solidFill>
          <a:ln w="12700">
            <a:solidFill>
              <a:srgbClr val="EF5350"/>
            </a:solidFill>
            <a:prstDash val="solid"/>
          </a:ln>
        </p:spPr>
      </p:sp>
      <p:sp>
        <p:nvSpPr>
          <p:cNvPr id="30" name="Text 28"/>
          <p:cNvSpPr/>
          <p:nvPr/>
        </p:nvSpPr>
        <p:spPr>
          <a:xfrm>
            <a:off x="4645152" y="3282696"/>
            <a:ext cx="4160520" cy="201168"/>
          </a:xfrm>
          <a:prstGeom prst="rect">
            <a:avLst/>
          </a:prstGeom>
          <a:noFill/>
          <a:ln/>
        </p:spPr>
        <p:txBody>
          <a:bodyPr wrap="square" rtlCol="0" anchor="ctr"/>
          <a:lstStyle/>
          <a:p>
            <a:pPr indent="0" marL="0">
              <a:buNone/>
            </a:pPr>
            <a:r>
              <a:rPr lang="en-US" sz="850" b="1" dirty="0">
                <a:solidFill>
                  <a:srgbClr val="EF5350"/>
                </a:solidFill>
                <a:latin typeface="Arial" pitchFamily="34" charset="0"/>
                <a:ea typeface="Arial" pitchFamily="34" charset="-122"/>
                <a:cs typeface="Arial" pitchFamily="34" charset="-120"/>
              </a:rPr>
              <a:t>Enrutador de Escalación</a:t>
            </a:r>
            <a:endParaRPr lang="en-US" sz="850" dirty="0"/>
          </a:p>
        </p:txBody>
      </p:sp>
      <p:sp>
        <p:nvSpPr>
          <p:cNvPr id="31" name="Text 29"/>
          <p:cNvSpPr/>
          <p:nvPr/>
        </p:nvSpPr>
        <p:spPr>
          <a:xfrm>
            <a:off x="4645152" y="3483864"/>
            <a:ext cx="4160520" cy="310896"/>
          </a:xfrm>
          <a:prstGeom prst="rect">
            <a:avLst/>
          </a:prstGeom>
          <a:noFill/>
          <a:ln/>
        </p:spPr>
        <p:txBody>
          <a:bodyPr wrap="square" rtlCol="0" anchor="ctr"/>
          <a:lstStyle/>
          <a:p>
            <a:pPr indent="0" marL="0">
              <a:buNone/>
            </a:pPr>
            <a:r>
              <a:rPr lang="en-US" sz="750" dirty="0">
                <a:solidFill>
                  <a:srgbClr val="B0BEC5"/>
                </a:solidFill>
                <a:latin typeface="Arial" pitchFamily="34" charset="0"/>
                <a:ea typeface="Arial" pitchFamily="34" charset="-122"/>
                <a:cs typeface="Arial" pitchFamily="34" charset="-120"/>
              </a:rPr>
              <a:t>Activa alertas al oficial (Día +1), notificación a gerencia (Día +6), bandera legal (Día +16)</a:t>
            </a:r>
            <a:endParaRPr lang="en-US" sz="750" dirty="0"/>
          </a:p>
        </p:txBody>
      </p:sp>
      <p:sp>
        <p:nvSpPr>
          <p:cNvPr id="32" name="Shape 30"/>
          <p:cNvSpPr/>
          <p:nvPr/>
        </p:nvSpPr>
        <p:spPr>
          <a:xfrm>
            <a:off x="4572000" y="3858768"/>
            <a:ext cx="4315968" cy="566928"/>
          </a:xfrm>
          <a:prstGeom prst="rect">
            <a:avLst/>
          </a:prstGeom>
          <a:solidFill>
            <a:srgbClr val="1E0D4A"/>
          </a:solidFill>
          <a:ln w="12700">
            <a:solidFill>
              <a:srgbClr val="1E0D4A"/>
            </a:solidFill>
            <a:prstDash val="solid"/>
          </a:ln>
        </p:spPr>
      </p:sp>
      <p:sp>
        <p:nvSpPr>
          <p:cNvPr id="33" name="Shape 31"/>
          <p:cNvSpPr/>
          <p:nvPr/>
        </p:nvSpPr>
        <p:spPr>
          <a:xfrm>
            <a:off x="4572000" y="3858768"/>
            <a:ext cx="45720" cy="566928"/>
          </a:xfrm>
          <a:prstGeom prst="rect">
            <a:avLst/>
          </a:prstGeom>
          <a:solidFill>
            <a:srgbClr val="FFA726"/>
          </a:solidFill>
          <a:ln w="12700">
            <a:solidFill>
              <a:srgbClr val="FFA726"/>
            </a:solidFill>
            <a:prstDash val="solid"/>
          </a:ln>
        </p:spPr>
      </p:sp>
      <p:sp>
        <p:nvSpPr>
          <p:cNvPr id="34" name="Text 32"/>
          <p:cNvSpPr/>
          <p:nvPr/>
        </p:nvSpPr>
        <p:spPr>
          <a:xfrm>
            <a:off x="4645152" y="3886200"/>
            <a:ext cx="4160520" cy="201168"/>
          </a:xfrm>
          <a:prstGeom prst="rect">
            <a:avLst/>
          </a:prstGeom>
          <a:noFill/>
          <a:ln/>
        </p:spPr>
        <p:txBody>
          <a:bodyPr wrap="square" rtlCol="0" anchor="ctr"/>
          <a:lstStyle/>
          <a:p>
            <a:pPr indent="0" marL="0">
              <a:buNone/>
            </a:pPr>
            <a:r>
              <a:rPr lang="en-US" sz="850" b="1" dirty="0">
                <a:solidFill>
                  <a:srgbClr val="FFA726"/>
                </a:solidFill>
                <a:latin typeface="Arial" pitchFamily="34" charset="0"/>
                <a:ea typeface="Arial" pitchFamily="34" charset="-122"/>
                <a:cs typeface="Arial" pitchFamily="34" charset="-120"/>
              </a:rPr>
              <a:t>Agente de Reportes</a:t>
            </a:r>
            <a:endParaRPr lang="en-US" sz="850" dirty="0"/>
          </a:p>
        </p:txBody>
      </p:sp>
      <p:sp>
        <p:nvSpPr>
          <p:cNvPr id="35" name="Text 33"/>
          <p:cNvSpPr/>
          <p:nvPr/>
        </p:nvSpPr>
        <p:spPr>
          <a:xfrm>
            <a:off x="4645152" y="4087368"/>
            <a:ext cx="4160520" cy="310896"/>
          </a:xfrm>
          <a:prstGeom prst="rect">
            <a:avLst/>
          </a:prstGeom>
          <a:noFill/>
          <a:ln/>
        </p:spPr>
        <p:txBody>
          <a:bodyPr wrap="square" rtlCol="0" anchor="ctr"/>
          <a:lstStyle/>
          <a:p>
            <a:pPr indent="0" marL="0">
              <a:buNone/>
            </a:pPr>
            <a:r>
              <a:rPr lang="en-US" sz="750" dirty="0">
                <a:solidFill>
                  <a:srgbClr val="B0BEC5"/>
                </a:solidFill>
                <a:latin typeface="Arial" pitchFamily="34" charset="0"/>
                <a:ea typeface="Arial" pitchFamily="34" charset="-122"/>
                <a:cs typeface="Arial" pitchFamily="34" charset="-120"/>
              </a:rPr>
              <a:t>Compila reporte gerencial PDF semanal; genera Balance General, Estado de Resultados, Flujo de Efectivo</a:t>
            </a:r>
            <a:endParaRPr lang="en-US" sz="750" dirty="0"/>
          </a:p>
        </p:txBody>
      </p:sp>
      <p:pic>
        <p:nvPicPr>
          <p:cNvPr id="37" name="Image 0" descr="preencoded.png">    </p:cNvPr>
          <p:cNvPicPr>
            <a:picLocks noChangeAspect="1"/>
          </p:cNvPicPr>
          <p:nvPr/>
        </p:nvPicPr>
        <p:blipFill>
          <a:blip r:embed="rId1"/>
          <a:stretch>
            <a:fillRect/>
          </a:stretch>
        </p:blipFill>
        <p:spPr>
          <a:xfrm>
            <a:off x="91440" y="1097280"/>
            <a:ext cx="4315968" cy="37490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Arquitectura Agéntica — Flujo de Datos</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Cada agente especializado opera en su carril; los artefactos se transfieren a través del Orquestador</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5</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pic>
        <p:nvPicPr>
          <p:cNvPr id="15" name="Image 0" descr="preencoded.png">    </p:cNvPr>
          <p:cNvPicPr>
            <a:picLocks noChangeAspect="1"/>
          </p:cNvPicPr>
          <p:nvPr/>
        </p:nvPicPr>
        <p:blipFill>
          <a:blip r:embed="rId1"/>
          <a:stretch>
            <a:fillRect/>
          </a:stretch>
        </p:blipFill>
        <p:spPr>
          <a:xfrm>
            <a:off x="137160" y="1097280"/>
            <a:ext cx="8869680" cy="37033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Responsabilidades de los Agentes Especializados</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Cada agente tiene un rol definido, herramientas acotadas y un esquema de salida estructurado</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6</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4" name="Shape 12"/>
          <p:cNvSpPr/>
          <p:nvPr/>
        </p:nvSpPr>
        <p:spPr>
          <a:xfrm>
            <a:off x="256032" y="1170432"/>
            <a:ext cx="2157984" cy="274320"/>
          </a:xfrm>
          <a:prstGeom prst="rect">
            <a:avLst/>
          </a:prstGeom>
          <a:solidFill>
            <a:srgbClr val="5F1EBE"/>
          </a:solidFill>
          <a:ln w="12700">
            <a:solidFill>
              <a:srgbClr val="5F1EBE"/>
            </a:solidFill>
            <a:prstDash val="solid"/>
          </a:ln>
        </p:spPr>
      </p:sp>
      <p:sp>
        <p:nvSpPr>
          <p:cNvPr id="15" name="Text 13"/>
          <p:cNvSpPr/>
          <p:nvPr/>
        </p:nvSpPr>
        <p:spPr>
          <a:xfrm>
            <a:off x="329184" y="1170432"/>
            <a:ext cx="2084832" cy="27432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Agente</a:t>
            </a:r>
            <a:endParaRPr lang="en-US" sz="900" dirty="0"/>
          </a:p>
        </p:txBody>
      </p:sp>
      <p:sp>
        <p:nvSpPr>
          <p:cNvPr id="16" name="Shape 14"/>
          <p:cNvSpPr/>
          <p:nvPr/>
        </p:nvSpPr>
        <p:spPr>
          <a:xfrm>
            <a:off x="2487168" y="1170432"/>
            <a:ext cx="3255264" cy="274320"/>
          </a:xfrm>
          <a:prstGeom prst="rect">
            <a:avLst/>
          </a:prstGeom>
          <a:solidFill>
            <a:srgbClr val="5F1EBE"/>
          </a:solidFill>
          <a:ln w="12700">
            <a:solidFill>
              <a:srgbClr val="5F1EBE"/>
            </a:solidFill>
            <a:prstDash val="solid"/>
          </a:ln>
        </p:spPr>
      </p:sp>
      <p:sp>
        <p:nvSpPr>
          <p:cNvPr id="17" name="Text 15"/>
          <p:cNvSpPr/>
          <p:nvPr/>
        </p:nvSpPr>
        <p:spPr>
          <a:xfrm>
            <a:off x="2560320" y="1170432"/>
            <a:ext cx="3182112" cy="27432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Rol / Propósito</a:t>
            </a:r>
            <a:endParaRPr lang="en-US" sz="900" dirty="0"/>
          </a:p>
        </p:txBody>
      </p:sp>
      <p:sp>
        <p:nvSpPr>
          <p:cNvPr id="18" name="Shape 16"/>
          <p:cNvSpPr/>
          <p:nvPr/>
        </p:nvSpPr>
        <p:spPr>
          <a:xfrm>
            <a:off x="5815584" y="1170432"/>
            <a:ext cx="3035808" cy="274320"/>
          </a:xfrm>
          <a:prstGeom prst="rect">
            <a:avLst/>
          </a:prstGeom>
          <a:solidFill>
            <a:srgbClr val="5F1EBE"/>
          </a:solidFill>
          <a:ln w="12700">
            <a:solidFill>
              <a:srgbClr val="5F1EBE"/>
            </a:solidFill>
            <a:prstDash val="solid"/>
          </a:ln>
        </p:spPr>
      </p:sp>
      <p:sp>
        <p:nvSpPr>
          <p:cNvPr id="19" name="Text 17"/>
          <p:cNvSpPr/>
          <p:nvPr/>
        </p:nvSpPr>
        <p:spPr>
          <a:xfrm>
            <a:off x="5888736" y="1170432"/>
            <a:ext cx="2962656" cy="274320"/>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Salidas Principales</a:t>
            </a:r>
            <a:endParaRPr lang="en-US" sz="900" dirty="0"/>
          </a:p>
        </p:txBody>
      </p:sp>
      <p:sp>
        <p:nvSpPr>
          <p:cNvPr id="20" name="Shape 18"/>
          <p:cNvSpPr/>
          <p:nvPr/>
        </p:nvSpPr>
        <p:spPr>
          <a:xfrm>
            <a:off x="256032" y="1481328"/>
            <a:ext cx="8631936" cy="457200"/>
          </a:xfrm>
          <a:prstGeom prst="rect">
            <a:avLst/>
          </a:prstGeom>
          <a:solidFill>
            <a:srgbClr val="1E0D4A"/>
          </a:solidFill>
          <a:ln w="12700">
            <a:solidFill>
              <a:srgbClr val="1E0D4A"/>
            </a:solidFill>
            <a:prstDash val="solid"/>
          </a:ln>
        </p:spPr>
      </p:sp>
      <p:sp>
        <p:nvSpPr>
          <p:cNvPr id="21" name="Shape 19"/>
          <p:cNvSpPr/>
          <p:nvPr/>
        </p:nvSpPr>
        <p:spPr>
          <a:xfrm>
            <a:off x="256032" y="1481328"/>
            <a:ext cx="45720" cy="457200"/>
          </a:xfrm>
          <a:prstGeom prst="rect">
            <a:avLst/>
          </a:prstGeom>
          <a:solidFill>
            <a:srgbClr val="5F1EBE"/>
          </a:solidFill>
          <a:ln w="12700">
            <a:solidFill>
              <a:srgbClr val="5F1EBE"/>
            </a:solidFill>
            <a:prstDash val="solid"/>
          </a:ln>
        </p:spPr>
      </p:sp>
      <p:sp>
        <p:nvSpPr>
          <p:cNvPr id="22" name="Text 20"/>
          <p:cNvSpPr/>
          <p:nvPr/>
        </p:nvSpPr>
        <p:spPr>
          <a:xfrm>
            <a:off x="329184" y="1508760"/>
            <a:ext cx="2103120" cy="402336"/>
          </a:xfrm>
          <a:prstGeom prst="rect">
            <a:avLst/>
          </a:prstGeom>
          <a:noFill/>
          <a:ln/>
        </p:spPr>
        <p:txBody>
          <a:bodyPr wrap="square" rtlCol="0" anchor="ctr"/>
          <a:lstStyle/>
          <a:p>
            <a:pPr indent="0" marL="0">
              <a:buNone/>
            </a:pPr>
            <a:r>
              <a:rPr lang="en-US" sz="850" b="1" dirty="0">
                <a:solidFill>
                  <a:srgbClr val="5F1EBE"/>
                </a:solidFill>
                <a:latin typeface="Arial" pitchFamily="34" charset="0"/>
                <a:ea typeface="Arial" pitchFamily="34" charset="-122"/>
                <a:cs typeface="Arial" pitchFamily="34" charset="-120"/>
              </a:rPr>
              <a:t>Orquestador</a:t>
            </a:r>
            <a:endParaRPr lang="en-US" sz="850" dirty="0"/>
          </a:p>
          <a:p>
            <a:pPr indent="0" marL="0">
              <a:buNone/>
            </a:pPr>
            <a:r>
              <a:rPr lang="en-US" sz="850" b="1" dirty="0">
                <a:solidFill>
                  <a:srgbClr val="5F1EBE"/>
                </a:solidFill>
                <a:latin typeface="Arial" pitchFamily="34" charset="0"/>
                <a:ea typeface="Arial" pitchFamily="34" charset="-122"/>
                <a:cs typeface="Arial" pitchFamily="34" charset="-120"/>
              </a:rPr>
              <a:t>Agéntico</a:t>
            </a:r>
            <a:endParaRPr lang="en-US" sz="850" dirty="0"/>
          </a:p>
        </p:txBody>
      </p:sp>
      <p:sp>
        <p:nvSpPr>
          <p:cNvPr id="23" name="Text 21"/>
          <p:cNvSpPr/>
          <p:nvPr/>
        </p:nvSpPr>
        <p:spPr>
          <a:xfrm>
            <a:off x="2487168" y="1508760"/>
            <a:ext cx="3255264" cy="402336"/>
          </a:xfrm>
          <a:prstGeom prst="rect">
            <a:avLst/>
          </a:prstGeom>
          <a:noFill/>
          <a:ln/>
        </p:spPr>
        <p:txBody>
          <a:bodyPr wrap="square" rtlCol="0" anchor="ctr"/>
          <a:lstStyle/>
          <a:p>
            <a:pPr indent="0" marL="0">
              <a:buNone/>
            </a:pPr>
            <a:r>
              <a:rPr lang="en-US" sz="750" dirty="0">
                <a:solidFill>
                  <a:srgbClr val="B0BEC5"/>
                </a:solidFill>
                <a:latin typeface="Arial" pitchFamily="34" charset="0"/>
                <a:ea typeface="Arial" pitchFamily="34" charset="-122"/>
                <a:cs typeface="Arial" pitchFamily="34" charset="-120"/>
              </a:rPr>
              <a:t>Propietario del estado del flujo para ambos módulos; enruta eventos a agentes especializados; gestiona colas de excepciones y auditoría.</a:t>
            </a:r>
            <a:endParaRPr lang="en-US" sz="750" dirty="0"/>
          </a:p>
        </p:txBody>
      </p:sp>
      <p:sp>
        <p:nvSpPr>
          <p:cNvPr id="24" name="Text 22"/>
          <p:cNvSpPr/>
          <p:nvPr/>
        </p:nvSpPr>
        <p:spPr>
          <a:xfrm>
            <a:off x="5815584" y="1508760"/>
            <a:ext cx="3017520" cy="402336"/>
          </a:xfrm>
          <a:prstGeom prst="rect">
            <a:avLst/>
          </a:prstGeom>
          <a:noFill/>
          <a:ln/>
        </p:spPr>
        <p:txBody>
          <a:bodyPr wrap="square" rtlCol="0" anchor="ctr"/>
          <a:lstStyle/>
          <a:p>
            <a:pPr indent="0" marL="0">
              <a:buNone/>
            </a:pPr>
            <a:r>
              <a:rPr lang="en-US" sz="750" i="1" dirty="0">
                <a:solidFill>
                  <a:srgbClr val="B9C8FF"/>
                </a:solidFill>
                <a:latin typeface="Arial" pitchFamily="34" charset="0"/>
                <a:ea typeface="Arial" pitchFamily="34" charset="-122"/>
                <a:cs typeface="Arial" pitchFamily="34" charset="-120"/>
              </a:rPr>
              <a:t>Transiciones de estado, cronograma de agentes, enrutamiento de excepciones, log de auditoría.</a:t>
            </a:r>
            <a:endParaRPr lang="en-US" sz="750" dirty="0"/>
          </a:p>
        </p:txBody>
      </p:sp>
      <p:sp>
        <p:nvSpPr>
          <p:cNvPr id="25" name="Shape 23"/>
          <p:cNvSpPr/>
          <p:nvPr/>
        </p:nvSpPr>
        <p:spPr>
          <a:xfrm>
            <a:off x="256032" y="1956816"/>
            <a:ext cx="8631936" cy="457200"/>
          </a:xfrm>
          <a:prstGeom prst="rect">
            <a:avLst/>
          </a:prstGeom>
          <a:solidFill>
            <a:srgbClr val="2D1870"/>
          </a:solidFill>
          <a:ln w="12700">
            <a:solidFill>
              <a:srgbClr val="1E0D4A"/>
            </a:solidFill>
            <a:prstDash val="solid"/>
          </a:ln>
        </p:spPr>
      </p:sp>
      <p:sp>
        <p:nvSpPr>
          <p:cNvPr id="26" name="Shape 24"/>
          <p:cNvSpPr/>
          <p:nvPr/>
        </p:nvSpPr>
        <p:spPr>
          <a:xfrm>
            <a:off x="256032" y="1956816"/>
            <a:ext cx="45720" cy="457200"/>
          </a:xfrm>
          <a:prstGeom prst="rect">
            <a:avLst/>
          </a:prstGeom>
          <a:solidFill>
            <a:srgbClr val="3C91FF"/>
          </a:solidFill>
          <a:ln w="12700">
            <a:solidFill>
              <a:srgbClr val="3C91FF"/>
            </a:solidFill>
            <a:prstDash val="solid"/>
          </a:ln>
        </p:spPr>
      </p:sp>
      <p:sp>
        <p:nvSpPr>
          <p:cNvPr id="27" name="Text 25"/>
          <p:cNvSpPr/>
          <p:nvPr/>
        </p:nvSpPr>
        <p:spPr>
          <a:xfrm>
            <a:off x="329184" y="1984248"/>
            <a:ext cx="2103120" cy="402336"/>
          </a:xfrm>
          <a:prstGeom prst="rect">
            <a:avLst/>
          </a:prstGeom>
          <a:noFill/>
          <a:ln/>
        </p:spPr>
        <p:txBody>
          <a:bodyPr wrap="square" rtlCol="0" anchor="ctr"/>
          <a:lstStyle/>
          <a:p>
            <a:pPr indent="0" marL="0">
              <a:buNone/>
            </a:pPr>
            <a:r>
              <a:rPr lang="en-US" sz="850" b="1" dirty="0">
                <a:solidFill>
                  <a:srgbClr val="3C91FF"/>
                </a:solidFill>
                <a:latin typeface="Arial" pitchFamily="34" charset="0"/>
                <a:ea typeface="Arial" pitchFamily="34" charset="-122"/>
                <a:cs typeface="Arial" pitchFamily="34" charset="-120"/>
              </a:rPr>
              <a:t>Agente de</a:t>
            </a:r>
            <a:endParaRPr lang="en-US" sz="850" dirty="0"/>
          </a:p>
          <a:p>
            <a:pPr indent="0" marL="0">
              <a:buNone/>
            </a:pPr>
            <a:r>
              <a:rPr lang="en-US" sz="850" b="1" dirty="0">
                <a:solidFill>
                  <a:srgbClr val="3C91FF"/>
                </a:solidFill>
                <a:latin typeface="Arial" pitchFamily="34" charset="0"/>
                <a:ea typeface="Arial" pitchFamily="34" charset="-122"/>
                <a:cs typeface="Arial" pitchFamily="34" charset="-120"/>
              </a:rPr>
              <a:t>Conciliación</a:t>
            </a:r>
            <a:endParaRPr lang="en-US" sz="850" dirty="0"/>
          </a:p>
        </p:txBody>
      </p:sp>
      <p:sp>
        <p:nvSpPr>
          <p:cNvPr id="28" name="Text 26"/>
          <p:cNvSpPr/>
          <p:nvPr/>
        </p:nvSpPr>
        <p:spPr>
          <a:xfrm>
            <a:off x="2487168" y="1984248"/>
            <a:ext cx="3255264" cy="402336"/>
          </a:xfrm>
          <a:prstGeom prst="rect">
            <a:avLst/>
          </a:prstGeom>
          <a:noFill/>
          <a:ln/>
        </p:spPr>
        <p:txBody>
          <a:bodyPr wrap="square" rtlCol="0" anchor="ctr"/>
          <a:lstStyle/>
          <a:p>
            <a:pPr indent="0" marL="0">
              <a:buNone/>
            </a:pPr>
            <a:r>
              <a:rPr lang="en-US" sz="750" dirty="0">
                <a:solidFill>
                  <a:srgbClr val="B0BEC5"/>
                </a:solidFill>
                <a:latin typeface="Arial" pitchFamily="34" charset="0"/>
                <a:ea typeface="Arial" pitchFamily="34" charset="-122"/>
                <a:cs typeface="Arial" pitchFamily="34" charset="-120"/>
              </a:rPr>
              <a:t>Parsea archivos de extracto bancario; puntúa confianza de emparejamiento transacción-partida; enruta ítems de baja confianza a cola de revisión del oficial; aprende de sus decisiones.</a:t>
            </a:r>
            <a:endParaRPr lang="en-US" sz="750" dirty="0"/>
          </a:p>
        </p:txBody>
      </p:sp>
      <p:sp>
        <p:nvSpPr>
          <p:cNvPr id="29" name="Text 27"/>
          <p:cNvSpPr/>
          <p:nvPr/>
        </p:nvSpPr>
        <p:spPr>
          <a:xfrm>
            <a:off x="5815584" y="1984248"/>
            <a:ext cx="3017520" cy="402336"/>
          </a:xfrm>
          <a:prstGeom prst="rect">
            <a:avLst/>
          </a:prstGeom>
          <a:noFill/>
          <a:ln/>
        </p:spPr>
        <p:txBody>
          <a:bodyPr wrap="square" rtlCol="0" anchor="ctr"/>
          <a:lstStyle/>
          <a:p>
            <a:pPr indent="0" marL="0">
              <a:buNone/>
            </a:pPr>
            <a:r>
              <a:rPr lang="en-US" sz="750" i="1" dirty="0">
                <a:solidFill>
                  <a:srgbClr val="B9C8FF"/>
                </a:solidFill>
                <a:latin typeface="Arial" pitchFamily="34" charset="0"/>
                <a:ea typeface="Arial" pitchFamily="34" charset="-122"/>
                <a:cs typeface="Arial" pitchFamily="34" charset="-120"/>
              </a:rPr>
              <a:t>Decisiones de emparejamiento, cola de excepciones, reglas de conciliación actualizadas.</a:t>
            </a:r>
            <a:endParaRPr lang="en-US" sz="750" dirty="0"/>
          </a:p>
        </p:txBody>
      </p:sp>
      <p:sp>
        <p:nvSpPr>
          <p:cNvPr id="30" name="Shape 28"/>
          <p:cNvSpPr/>
          <p:nvPr/>
        </p:nvSpPr>
        <p:spPr>
          <a:xfrm>
            <a:off x="256032" y="2432304"/>
            <a:ext cx="8631936" cy="457200"/>
          </a:xfrm>
          <a:prstGeom prst="rect">
            <a:avLst/>
          </a:prstGeom>
          <a:solidFill>
            <a:srgbClr val="1E0D4A"/>
          </a:solidFill>
          <a:ln w="12700">
            <a:solidFill>
              <a:srgbClr val="1E0D4A"/>
            </a:solidFill>
            <a:prstDash val="solid"/>
          </a:ln>
        </p:spPr>
      </p:sp>
      <p:sp>
        <p:nvSpPr>
          <p:cNvPr id="31" name="Shape 29"/>
          <p:cNvSpPr/>
          <p:nvPr/>
        </p:nvSpPr>
        <p:spPr>
          <a:xfrm>
            <a:off x="256032" y="2432304"/>
            <a:ext cx="45720" cy="457200"/>
          </a:xfrm>
          <a:prstGeom prst="rect">
            <a:avLst/>
          </a:prstGeom>
          <a:solidFill>
            <a:srgbClr val="00C853"/>
          </a:solidFill>
          <a:ln w="12700">
            <a:solidFill>
              <a:srgbClr val="00C853"/>
            </a:solidFill>
            <a:prstDash val="solid"/>
          </a:ln>
        </p:spPr>
      </p:sp>
      <p:sp>
        <p:nvSpPr>
          <p:cNvPr id="32" name="Text 30"/>
          <p:cNvSpPr/>
          <p:nvPr/>
        </p:nvSpPr>
        <p:spPr>
          <a:xfrm>
            <a:off x="329184" y="2459736"/>
            <a:ext cx="2103120" cy="402336"/>
          </a:xfrm>
          <a:prstGeom prst="rect">
            <a:avLst/>
          </a:prstGeom>
          <a:noFill/>
          <a:ln/>
        </p:spPr>
        <p:txBody>
          <a:bodyPr wrap="square" rtlCol="0" anchor="ctr"/>
          <a:lstStyle/>
          <a:p>
            <a:pPr indent="0" marL="0">
              <a:buNone/>
            </a:pPr>
            <a:r>
              <a:rPr lang="en-US" sz="850" b="1" dirty="0">
                <a:solidFill>
                  <a:srgbClr val="00C853"/>
                </a:solidFill>
                <a:latin typeface="Arial" pitchFamily="34" charset="0"/>
                <a:ea typeface="Arial" pitchFamily="34" charset="-122"/>
                <a:cs typeface="Arial" pitchFamily="34" charset="-120"/>
              </a:rPr>
              <a:t>Agente de</a:t>
            </a:r>
            <a:endParaRPr lang="en-US" sz="850" dirty="0"/>
          </a:p>
          <a:p>
            <a:pPr indent="0" marL="0">
              <a:buNone/>
            </a:pPr>
            <a:r>
              <a:rPr lang="en-US" sz="850" b="1" dirty="0">
                <a:solidFill>
                  <a:srgbClr val="00C853"/>
                </a:solidFill>
                <a:latin typeface="Arial" pitchFamily="34" charset="0"/>
                <a:ea typeface="Arial" pitchFamily="34" charset="-122"/>
                <a:cs typeface="Arial" pitchFamily="34" charset="-120"/>
              </a:rPr>
              <a:t>Notificaciones</a:t>
            </a:r>
            <a:endParaRPr lang="en-US" sz="850" dirty="0"/>
          </a:p>
        </p:txBody>
      </p:sp>
      <p:sp>
        <p:nvSpPr>
          <p:cNvPr id="33" name="Text 31"/>
          <p:cNvSpPr/>
          <p:nvPr/>
        </p:nvSpPr>
        <p:spPr>
          <a:xfrm>
            <a:off x="2487168" y="2459736"/>
            <a:ext cx="3255264" cy="402336"/>
          </a:xfrm>
          <a:prstGeom prst="rect">
            <a:avLst/>
          </a:prstGeom>
          <a:noFill/>
          <a:ln/>
        </p:spPr>
        <p:txBody>
          <a:bodyPr wrap="square" rtlCol="0" anchor="ctr"/>
          <a:lstStyle/>
          <a:p>
            <a:pPr indent="0" marL="0">
              <a:buNone/>
            </a:pPr>
            <a:r>
              <a:rPr lang="en-US" sz="750" dirty="0">
                <a:solidFill>
                  <a:srgbClr val="B0BEC5"/>
                </a:solidFill>
                <a:latin typeface="Arial" pitchFamily="34" charset="0"/>
                <a:ea typeface="Arial" pitchFamily="34" charset="-122"/>
                <a:cs typeface="Arial" pitchFamily="34" charset="-120"/>
              </a:rPr>
              <a:t>Lee planes de pago diariamente; determina qué notificaciones están programadas; despacha WhatsApp + correo; registra estado de entrega y respuestas de clientes.</a:t>
            </a:r>
            <a:endParaRPr lang="en-US" sz="750" dirty="0"/>
          </a:p>
        </p:txBody>
      </p:sp>
      <p:sp>
        <p:nvSpPr>
          <p:cNvPr id="34" name="Text 32"/>
          <p:cNvSpPr/>
          <p:nvPr/>
        </p:nvSpPr>
        <p:spPr>
          <a:xfrm>
            <a:off x="5815584" y="2459736"/>
            <a:ext cx="3017520" cy="402336"/>
          </a:xfrm>
          <a:prstGeom prst="rect">
            <a:avLst/>
          </a:prstGeom>
          <a:noFill/>
          <a:ln/>
        </p:spPr>
        <p:txBody>
          <a:bodyPr wrap="square" rtlCol="0" anchor="ctr"/>
          <a:lstStyle/>
          <a:p>
            <a:pPr indent="0" marL="0">
              <a:buNone/>
            </a:pPr>
            <a:r>
              <a:rPr lang="en-US" sz="750" i="1" dirty="0">
                <a:solidFill>
                  <a:srgbClr val="B9C8FF"/>
                </a:solidFill>
                <a:latin typeface="Arial" pitchFamily="34" charset="0"/>
                <a:ea typeface="Arial" pitchFamily="34" charset="-122"/>
                <a:cs typeface="Arial" pitchFamily="34" charset="-120"/>
              </a:rPr>
              <a:t>Notificaciones enviadas, acuses de recibo, log de mensajes bidireccionales.</a:t>
            </a:r>
            <a:endParaRPr lang="en-US" sz="750" dirty="0"/>
          </a:p>
        </p:txBody>
      </p:sp>
      <p:sp>
        <p:nvSpPr>
          <p:cNvPr id="35" name="Shape 33"/>
          <p:cNvSpPr/>
          <p:nvPr/>
        </p:nvSpPr>
        <p:spPr>
          <a:xfrm>
            <a:off x="256032" y="2907792"/>
            <a:ext cx="8631936" cy="457200"/>
          </a:xfrm>
          <a:prstGeom prst="rect">
            <a:avLst/>
          </a:prstGeom>
          <a:solidFill>
            <a:srgbClr val="2D1870"/>
          </a:solidFill>
          <a:ln w="12700">
            <a:solidFill>
              <a:srgbClr val="1E0D4A"/>
            </a:solidFill>
            <a:prstDash val="solid"/>
          </a:ln>
        </p:spPr>
      </p:sp>
      <p:sp>
        <p:nvSpPr>
          <p:cNvPr id="36" name="Shape 34"/>
          <p:cNvSpPr/>
          <p:nvPr/>
        </p:nvSpPr>
        <p:spPr>
          <a:xfrm>
            <a:off x="256032" y="2907792"/>
            <a:ext cx="45720" cy="457200"/>
          </a:xfrm>
          <a:prstGeom prst="rect">
            <a:avLst/>
          </a:prstGeom>
          <a:solidFill>
            <a:srgbClr val="8C69F0"/>
          </a:solidFill>
          <a:ln w="12700">
            <a:solidFill>
              <a:srgbClr val="8C69F0"/>
            </a:solidFill>
            <a:prstDash val="solid"/>
          </a:ln>
        </p:spPr>
      </p:sp>
      <p:sp>
        <p:nvSpPr>
          <p:cNvPr id="37" name="Text 35"/>
          <p:cNvSpPr/>
          <p:nvPr/>
        </p:nvSpPr>
        <p:spPr>
          <a:xfrm>
            <a:off x="329184" y="2935224"/>
            <a:ext cx="2103120" cy="402336"/>
          </a:xfrm>
          <a:prstGeom prst="rect">
            <a:avLst/>
          </a:prstGeom>
          <a:noFill/>
          <a:ln/>
        </p:spPr>
        <p:txBody>
          <a:bodyPr wrap="square" rtlCol="0" anchor="ctr"/>
          <a:lstStyle/>
          <a:p>
            <a:pPr indent="0" marL="0">
              <a:buNone/>
            </a:pPr>
            <a:r>
              <a:rPr lang="en-US" sz="850" b="1" dirty="0">
                <a:solidFill>
                  <a:srgbClr val="8C69F0"/>
                </a:solidFill>
                <a:latin typeface="Arial" pitchFamily="34" charset="0"/>
                <a:ea typeface="Arial" pitchFamily="34" charset="-122"/>
                <a:cs typeface="Arial" pitchFamily="34" charset="-120"/>
              </a:rPr>
              <a:t>Inteligencia</a:t>
            </a:r>
            <a:endParaRPr lang="en-US" sz="850" dirty="0"/>
          </a:p>
          <a:p>
            <a:pPr indent="0" marL="0">
              <a:buNone/>
            </a:pPr>
            <a:r>
              <a:rPr lang="en-US" sz="850" b="1" dirty="0">
                <a:solidFill>
                  <a:srgbClr val="8C69F0"/>
                </a:solidFill>
                <a:latin typeface="Arial" pitchFamily="34" charset="0"/>
                <a:ea typeface="Arial" pitchFamily="34" charset="-122"/>
                <a:cs typeface="Arial" pitchFamily="34" charset="-120"/>
              </a:rPr>
              <a:t>Financiera</a:t>
            </a:r>
            <a:endParaRPr lang="en-US" sz="850" dirty="0"/>
          </a:p>
        </p:txBody>
      </p:sp>
      <p:sp>
        <p:nvSpPr>
          <p:cNvPr id="38" name="Text 36"/>
          <p:cNvSpPr/>
          <p:nvPr/>
        </p:nvSpPr>
        <p:spPr>
          <a:xfrm>
            <a:off x="2487168" y="2935224"/>
            <a:ext cx="3255264" cy="402336"/>
          </a:xfrm>
          <a:prstGeom prst="rect">
            <a:avLst/>
          </a:prstGeom>
          <a:noFill/>
          <a:ln/>
        </p:spPr>
        <p:txBody>
          <a:bodyPr wrap="square" rtlCol="0" anchor="ctr"/>
          <a:lstStyle/>
          <a:p>
            <a:pPr indent="0" marL="0">
              <a:buNone/>
            </a:pPr>
            <a:r>
              <a:rPr lang="en-US" sz="750" dirty="0">
                <a:solidFill>
                  <a:srgbClr val="B0BEC5"/>
                </a:solidFill>
                <a:latin typeface="Arial" pitchFamily="34" charset="0"/>
                <a:ea typeface="Arial" pitchFamily="34" charset="-122"/>
                <a:cs typeface="Arial" pitchFamily="34" charset="-120"/>
              </a:rPr>
              <a:t>Compara ejecución vs. presupuesto y cash flow proyectado; calcula métricas de desviación; asigna estado semaforizado (rojo/amarillo/verde) por partida.</a:t>
            </a:r>
            <a:endParaRPr lang="en-US" sz="750" dirty="0"/>
          </a:p>
        </p:txBody>
      </p:sp>
      <p:sp>
        <p:nvSpPr>
          <p:cNvPr id="39" name="Text 37"/>
          <p:cNvSpPr/>
          <p:nvPr/>
        </p:nvSpPr>
        <p:spPr>
          <a:xfrm>
            <a:off x="5815584" y="2935224"/>
            <a:ext cx="3017520" cy="402336"/>
          </a:xfrm>
          <a:prstGeom prst="rect">
            <a:avLst/>
          </a:prstGeom>
          <a:noFill/>
          <a:ln/>
        </p:spPr>
        <p:txBody>
          <a:bodyPr wrap="square" rtlCol="0" anchor="ctr"/>
          <a:lstStyle/>
          <a:p>
            <a:pPr indent="0" marL="0">
              <a:buNone/>
            </a:pPr>
            <a:r>
              <a:rPr lang="en-US" sz="750" i="1" dirty="0">
                <a:solidFill>
                  <a:srgbClr val="B9C8FF"/>
                </a:solidFill>
                <a:latin typeface="Arial" pitchFamily="34" charset="0"/>
                <a:ea typeface="Arial" pitchFamily="34" charset="-122"/>
                <a:cs typeface="Arial" pitchFamily="34" charset="-120"/>
              </a:rPr>
              <a:t>KPIs del dashboard, alertas por partida, pronósticos de déficit, alertas de hitos.</a:t>
            </a:r>
            <a:endParaRPr lang="en-US" sz="750" dirty="0"/>
          </a:p>
        </p:txBody>
      </p:sp>
      <p:sp>
        <p:nvSpPr>
          <p:cNvPr id="40" name="Shape 38"/>
          <p:cNvSpPr/>
          <p:nvPr/>
        </p:nvSpPr>
        <p:spPr>
          <a:xfrm>
            <a:off x="256032" y="3383280"/>
            <a:ext cx="8631936" cy="457200"/>
          </a:xfrm>
          <a:prstGeom prst="rect">
            <a:avLst/>
          </a:prstGeom>
          <a:solidFill>
            <a:srgbClr val="1E0D4A"/>
          </a:solidFill>
          <a:ln w="12700">
            <a:solidFill>
              <a:srgbClr val="1E0D4A"/>
            </a:solidFill>
            <a:prstDash val="solid"/>
          </a:ln>
        </p:spPr>
      </p:sp>
      <p:sp>
        <p:nvSpPr>
          <p:cNvPr id="41" name="Shape 39"/>
          <p:cNvSpPr/>
          <p:nvPr/>
        </p:nvSpPr>
        <p:spPr>
          <a:xfrm>
            <a:off x="256032" y="3383280"/>
            <a:ext cx="45720" cy="457200"/>
          </a:xfrm>
          <a:prstGeom prst="rect">
            <a:avLst/>
          </a:prstGeom>
          <a:solidFill>
            <a:srgbClr val="EF5350"/>
          </a:solidFill>
          <a:ln w="12700">
            <a:solidFill>
              <a:srgbClr val="EF5350"/>
            </a:solidFill>
            <a:prstDash val="solid"/>
          </a:ln>
        </p:spPr>
      </p:sp>
      <p:sp>
        <p:nvSpPr>
          <p:cNvPr id="42" name="Text 40"/>
          <p:cNvSpPr/>
          <p:nvPr/>
        </p:nvSpPr>
        <p:spPr>
          <a:xfrm>
            <a:off x="329184" y="3410712"/>
            <a:ext cx="2103120" cy="402336"/>
          </a:xfrm>
          <a:prstGeom prst="rect">
            <a:avLst/>
          </a:prstGeom>
          <a:noFill/>
          <a:ln/>
        </p:spPr>
        <p:txBody>
          <a:bodyPr wrap="square" rtlCol="0" anchor="ctr"/>
          <a:lstStyle/>
          <a:p>
            <a:pPr indent="0" marL="0">
              <a:buNone/>
            </a:pPr>
            <a:r>
              <a:rPr lang="en-US" sz="850" b="1" dirty="0">
                <a:solidFill>
                  <a:srgbClr val="EF5350"/>
                </a:solidFill>
                <a:latin typeface="Arial" pitchFamily="34" charset="0"/>
                <a:ea typeface="Arial" pitchFamily="34" charset="-122"/>
                <a:cs typeface="Arial" pitchFamily="34" charset="-120"/>
              </a:rPr>
              <a:t>Enrutador de</a:t>
            </a:r>
            <a:endParaRPr lang="en-US" sz="850" dirty="0"/>
          </a:p>
          <a:p>
            <a:pPr indent="0" marL="0">
              <a:buNone/>
            </a:pPr>
            <a:r>
              <a:rPr lang="en-US" sz="850" b="1" dirty="0">
                <a:solidFill>
                  <a:srgbClr val="EF5350"/>
                </a:solidFill>
                <a:latin typeface="Arial" pitchFamily="34" charset="0"/>
                <a:ea typeface="Arial" pitchFamily="34" charset="-122"/>
                <a:cs typeface="Arial" pitchFamily="34" charset="-120"/>
              </a:rPr>
              <a:t>Escalación</a:t>
            </a:r>
            <a:endParaRPr lang="en-US" sz="850" dirty="0"/>
          </a:p>
        </p:txBody>
      </p:sp>
      <p:sp>
        <p:nvSpPr>
          <p:cNvPr id="43" name="Text 41"/>
          <p:cNvSpPr/>
          <p:nvPr/>
        </p:nvSpPr>
        <p:spPr>
          <a:xfrm>
            <a:off x="2487168" y="3410712"/>
            <a:ext cx="3255264" cy="402336"/>
          </a:xfrm>
          <a:prstGeom prst="rect">
            <a:avLst/>
          </a:prstGeom>
          <a:noFill/>
          <a:ln/>
        </p:spPr>
        <p:txBody>
          <a:bodyPr wrap="square" rtlCol="0" anchor="ctr"/>
          <a:lstStyle/>
          <a:p>
            <a:pPr indent="0" marL="0">
              <a:buNone/>
            </a:pPr>
            <a:r>
              <a:rPr lang="en-US" sz="750" dirty="0">
                <a:solidFill>
                  <a:srgbClr val="B0BEC5"/>
                </a:solidFill>
                <a:latin typeface="Arial" pitchFamily="34" charset="0"/>
                <a:ea typeface="Arial" pitchFamily="34" charset="-122"/>
                <a:cs typeface="Arial" pitchFamily="34" charset="-120"/>
              </a:rPr>
              <a:t>Monitorea antigüedad de cuotas vencidas; activa escalación en umbrales definidos: dashboard del oficial (Día +1), notificación a gerencia (Día +6), bandera legal (Día +16).</a:t>
            </a:r>
            <a:endParaRPr lang="en-US" sz="750" dirty="0"/>
          </a:p>
        </p:txBody>
      </p:sp>
      <p:sp>
        <p:nvSpPr>
          <p:cNvPr id="44" name="Text 42"/>
          <p:cNvSpPr/>
          <p:nvPr/>
        </p:nvSpPr>
        <p:spPr>
          <a:xfrm>
            <a:off x="5815584" y="3410712"/>
            <a:ext cx="3017520" cy="402336"/>
          </a:xfrm>
          <a:prstGeom prst="rect">
            <a:avLst/>
          </a:prstGeom>
          <a:noFill/>
          <a:ln/>
        </p:spPr>
        <p:txBody>
          <a:bodyPr wrap="square" rtlCol="0" anchor="ctr"/>
          <a:lstStyle/>
          <a:p>
            <a:pPr indent="0" marL="0">
              <a:buNone/>
            </a:pPr>
            <a:r>
              <a:rPr lang="en-US" sz="750" i="1" dirty="0">
                <a:solidFill>
                  <a:srgbClr val="B9C8FF"/>
                </a:solidFill>
                <a:latin typeface="Arial" pitchFamily="34" charset="0"/>
                <a:ea typeface="Arial" pitchFamily="34" charset="-122"/>
                <a:cs typeface="Arial" pitchFamily="34" charset="-120"/>
              </a:rPr>
              <a:t>Eventos de escalación, alertas a gerencia, banderas de referimiento legal.</a:t>
            </a:r>
            <a:endParaRPr lang="en-US" sz="750" dirty="0"/>
          </a:p>
        </p:txBody>
      </p:sp>
      <p:sp>
        <p:nvSpPr>
          <p:cNvPr id="45" name="Shape 43"/>
          <p:cNvSpPr/>
          <p:nvPr/>
        </p:nvSpPr>
        <p:spPr>
          <a:xfrm>
            <a:off x="256032" y="3858768"/>
            <a:ext cx="8631936" cy="457200"/>
          </a:xfrm>
          <a:prstGeom prst="rect">
            <a:avLst/>
          </a:prstGeom>
          <a:solidFill>
            <a:srgbClr val="2D1870"/>
          </a:solidFill>
          <a:ln w="12700">
            <a:solidFill>
              <a:srgbClr val="1E0D4A"/>
            </a:solidFill>
            <a:prstDash val="solid"/>
          </a:ln>
        </p:spPr>
      </p:sp>
      <p:sp>
        <p:nvSpPr>
          <p:cNvPr id="46" name="Shape 44"/>
          <p:cNvSpPr/>
          <p:nvPr/>
        </p:nvSpPr>
        <p:spPr>
          <a:xfrm>
            <a:off x="256032" y="3858768"/>
            <a:ext cx="45720" cy="457200"/>
          </a:xfrm>
          <a:prstGeom prst="rect">
            <a:avLst/>
          </a:prstGeom>
          <a:solidFill>
            <a:srgbClr val="FFA726"/>
          </a:solidFill>
          <a:ln w="12700">
            <a:solidFill>
              <a:srgbClr val="FFA726"/>
            </a:solidFill>
            <a:prstDash val="solid"/>
          </a:ln>
        </p:spPr>
      </p:sp>
      <p:sp>
        <p:nvSpPr>
          <p:cNvPr id="47" name="Text 45"/>
          <p:cNvSpPr/>
          <p:nvPr/>
        </p:nvSpPr>
        <p:spPr>
          <a:xfrm>
            <a:off x="329184" y="3886200"/>
            <a:ext cx="2103120" cy="402336"/>
          </a:xfrm>
          <a:prstGeom prst="rect">
            <a:avLst/>
          </a:prstGeom>
          <a:noFill/>
          <a:ln/>
        </p:spPr>
        <p:txBody>
          <a:bodyPr wrap="square" rtlCol="0" anchor="ctr"/>
          <a:lstStyle/>
          <a:p>
            <a:pPr indent="0" marL="0">
              <a:buNone/>
            </a:pPr>
            <a:r>
              <a:rPr lang="en-US" sz="850" b="1" dirty="0">
                <a:solidFill>
                  <a:srgbClr val="FFA726"/>
                </a:solidFill>
                <a:latin typeface="Arial" pitchFamily="34" charset="0"/>
                <a:ea typeface="Arial" pitchFamily="34" charset="-122"/>
                <a:cs typeface="Arial" pitchFamily="34" charset="-120"/>
              </a:rPr>
              <a:t>Agente de</a:t>
            </a:r>
            <a:endParaRPr lang="en-US" sz="850" dirty="0"/>
          </a:p>
          <a:p>
            <a:pPr indent="0" marL="0">
              <a:buNone/>
            </a:pPr>
            <a:r>
              <a:rPr lang="en-US" sz="850" b="1" dirty="0">
                <a:solidFill>
                  <a:srgbClr val="FFA726"/>
                </a:solidFill>
                <a:latin typeface="Arial" pitchFamily="34" charset="0"/>
                <a:ea typeface="Arial" pitchFamily="34" charset="-122"/>
                <a:cs typeface="Arial" pitchFamily="34" charset="-120"/>
              </a:rPr>
              <a:t>Reportes</a:t>
            </a:r>
            <a:endParaRPr lang="en-US" sz="850" dirty="0"/>
          </a:p>
        </p:txBody>
      </p:sp>
      <p:sp>
        <p:nvSpPr>
          <p:cNvPr id="48" name="Text 46"/>
          <p:cNvSpPr/>
          <p:nvPr/>
        </p:nvSpPr>
        <p:spPr>
          <a:xfrm>
            <a:off x="2487168" y="3886200"/>
            <a:ext cx="3255264" cy="402336"/>
          </a:xfrm>
          <a:prstGeom prst="rect">
            <a:avLst/>
          </a:prstGeom>
          <a:noFill/>
          <a:ln/>
        </p:spPr>
        <p:txBody>
          <a:bodyPr wrap="square" rtlCol="0" anchor="ctr"/>
          <a:lstStyle/>
          <a:p>
            <a:pPr indent="0" marL="0">
              <a:buNone/>
            </a:pPr>
            <a:r>
              <a:rPr lang="en-US" sz="750" dirty="0">
                <a:solidFill>
                  <a:srgbClr val="B0BEC5"/>
                </a:solidFill>
                <a:latin typeface="Arial" pitchFamily="34" charset="0"/>
                <a:ea typeface="Arial" pitchFamily="34" charset="-122"/>
                <a:cs typeface="Arial" pitchFamily="34" charset="-120"/>
              </a:rPr>
              <a:t>Compila estados financieros y reporte gerencial semanal desde datos estructurados; formatea y despacha PDF según calendario o bajo demanda.</a:t>
            </a:r>
            <a:endParaRPr lang="en-US" sz="750" dirty="0"/>
          </a:p>
        </p:txBody>
      </p:sp>
      <p:sp>
        <p:nvSpPr>
          <p:cNvPr id="49" name="Text 47"/>
          <p:cNvSpPr/>
          <p:nvPr/>
        </p:nvSpPr>
        <p:spPr>
          <a:xfrm>
            <a:off x="5815584" y="3886200"/>
            <a:ext cx="3017520" cy="402336"/>
          </a:xfrm>
          <a:prstGeom prst="rect">
            <a:avLst/>
          </a:prstGeom>
          <a:noFill/>
          <a:ln/>
        </p:spPr>
        <p:txBody>
          <a:bodyPr wrap="square" rtlCol="0" anchor="ctr"/>
          <a:lstStyle/>
          <a:p>
            <a:pPr indent="0" marL="0">
              <a:buNone/>
            </a:pPr>
            <a:r>
              <a:rPr lang="en-US" sz="750" i="1" dirty="0">
                <a:solidFill>
                  <a:srgbClr val="B9C8FF"/>
                </a:solidFill>
                <a:latin typeface="Arial" pitchFamily="34" charset="0"/>
                <a:ea typeface="Arial" pitchFamily="34" charset="-122"/>
                <a:cs typeface="Arial" pitchFamily="34" charset="-120"/>
              </a:rPr>
              <a:t>Reporte PDF semanal, Balance General, Estado de Resultados, Flujo de Efectivo.</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Modelo de Conciliación Bancaria</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Banco Popular · emparejamiento automático con aprendizaje continuo · revisión solo de excepciones</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7</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pic>
        <p:nvPicPr>
          <p:cNvPr id="15" name="Image 0" descr="preencoded.png">    </p:cNvPr>
          <p:cNvPicPr>
            <a:picLocks noChangeAspect="1"/>
          </p:cNvPicPr>
          <p:nvPr/>
        </p:nvPicPr>
        <p:blipFill>
          <a:blip r:embed="rId1"/>
          <a:stretch>
            <a:fillRect/>
          </a:stretch>
        </p:blipFill>
        <p:spPr>
          <a:xfrm>
            <a:off x="164592" y="1115568"/>
            <a:ext cx="8814816"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Flujo de Cobros Automatizado</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WhatsApp como canal principal · correo como respaldo · escalación automática por días de mora</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8</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pic>
        <p:nvPicPr>
          <p:cNvPr id="15" name="Image 0" descr="preencoded.png">    </p:cNvPr>
          <p:cNvPicPr>
            <a:picLocks noChangeAspect="1"/>
          </p:cNvPicPr>
          <p:nvPr/>
        </p:nvPicPr>
        <p:blipFill>
          <a:blip r:embed="rId1"/>
          <a:stretch>
            <a:fillRect/>
          </a:stretch>
        </p:blipFill>
        <p:spPr>
          <a:xfrm>
            <a:off x="164592" y="1115568"/>
            <a:ext cx="8814816"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Panel Ejecutivo — Módulo Financiero</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Visibilidad en tiempo real del estado financiero de cada proyecto</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9</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4" name="Shape 12"/>
          <p:cNvSpPr/>
          <p:nvPr/>
        </p:nvSpPr>
        <p:spPr>
          <a:xfrm>
            <a:off x="256032" y="1170432"/>
            <a:ext cx="2706624" cy="1005840"/>
          </a:xfrm>
          <a:prstGeom prst="roundRect">
            <a:avLst>
              <a:gd name="adj" fmla="val 7273"/>
            </a:avLst>
          </a:prstGeom>
          <a:solidFill>
            <a:srgbClr val="1E0D4A"/>
          </a:solidFill>
          <a:ln w="19050">
            <a:solidFill>
              <a:srgbClr val="FFA726"/>
            </a:solidFill>
            <a:prstDash val="solid"/>
          </a:ln>
        </p:spPr>
      </p:sp>
      <p:sp>
        <p:nvSpPr>
          <p:cNvPr id="15" name="Text 13"/>
          <p:cNvSpPr/>
          <p:nvPr/>
        </p:nvSpPr>
        <p:spPr>
          <a:xfrm>
            <a:off x="347472" y="1280160"/>
            <a:ext cx="2523744" cy="237744"/>
          </a:xfrm>
          <a:prstGeom prst="rect">
            <a:avLst/>
          </a:prstGeom>
          <a:noFill/>
          <a:ln/>
        </p:spPr>
        <p:txBody>
          <a:bodyPr wrap="square" rtlCol="0" anchor="ctr"/>
          <a:lstStyle/>
          <a:p>
            <a:pPr algn="ctr" indent="0" marL="0">
              <a:buNone/>
            </a:pPr>
            <a:r>
              <a:rPr lang="en-US" sz="800" b="1" dirty="0">
                <a:solidFill>
                  <a:srgbClr val="FFA726"/>
                </a:solidFill>
                <a:latin typeface="Arial" pitchFamily="34" charset="0"/>
                <a:ea typeface="Arial" pitchFamily="34" charset="-122"/>
                <a:cs typeface="Arial" pitchFamily="34" charset="-120"/>
              </a:rPr>
              <a:t>KPI FINANCIERO #1</a:t>
            </a:r>
            <a:endParaRPr lang="en-US" sz="800" dirty="0"/>
          </a:p>
        </p:txBody>
      </p:sp>
      <p:sp>
        <p:nvSpPr>
          <p:cNvPr id="16" name="Text 14"/>
          <p:cNvSpPr/>
          <p:nvPr/>
        </p:nvSpPr>
        <p:spPr>
          <a:xfrm>
            <a:off x="347472" y="1536192"/>
            <a:ext cx="2523744" cy="512064"/>
          </a:xfrm>
          <a:prstGeom prst="rect">
            <a:avLst/>
          </a:prstGeom>
          <a:noFill/>
          <a:ln/>
        </p:spPr>
        <p:txBody>
          <a:bodyPr wrap="square" rtlCol="0" anchor="ctr"/>
          <a:lstStyle/>
          <a:p>
            <a:pPr algn="ctr" indent="0" marL="0">
              <a:buNone/>
            </a:pPr>
            <a:r>
              <a:rPr lang="en-US" sz="900" dirty="0">
                <a:solidFill>
                  <a:srgbClr val="B0BEC5"/>
                </a:solidFill>
                <a:latin typeface="Arial" pitchFamily="34" charset="0"/>
                <a:ea typeface="Arial" pitchFamily="34" charset="-122"/>
                <a:cs typeface="Arial" pitchFamily="34" charset="-120"/>
              </a:rPr>
              <a:t>¿Cuál es el más importante</a:t>
            </a:r>
            <a:endParaRPr lang="en-US" sz="900" dirty="0"/>
          </a:p>
          <a:p>
            <a:pPr algn="ctr" indent="0" marL="0">
              <a:buNone/>
            </a:pPr>
            <a:r>
              <a:rPr lang="en-US" sz="900" dirty="0">
                <a:solidFill>
                  <a:srgbClr val="B0BEC5"/>
                </a:solidFill>
                <a:latin typeface="Arial" pitchFamily="34" charset="0"/>
                <a:ea typeface="Arial" pitchFamily="34" charset="-122"/>
                <a:cs typeface="Arial" pitchFamily="34" charset="-120"/>
              </a:rPr>
              <a:t>para la gerencia?</a:t>
            </a:r>
            <a:endParaRPr lang="en-US" sz="900" dirty="0"/>
          </a:p>
        </p:txBody>
      </p:sp>
      <p:sp>
        <p:nvSpPr>
          <p:cNvPr id="17" name="Shape 15"/>
          <p:cNvSpPr/>
          <p:nvPr/>
        </p:nvSpPr>
        <p:spPr>
          <a:xfrm>
            <a:off x="3182112" y="1170432"/>
            <a:ext cx="2706624" cy="1005840"/>
          </a:xfrm>
          <a:prstGeom prst="roundRect">
            <a:avLst>
              <a:gd name="adj" fmla="val 7273"/>
            </a:avLst>
          </a:prstGeom>
          <a:solidFill>
            <a:srgbClr val="1E0D4A"/>
          </a:solidFill>
          <a:ln w="19050">
            <a:solidFill>
              <a:srgbClr val="8C69F0"/>
            </a:solidFill>
            <a:prstDash val="solid"/>
          </a:ln>
        </p:spPr>
      </p:sp>
      <p:sp>
        <p:nvSpPr>
          <p:cNvPr id="18" name="Text 16"/>
          <p:cNvSpPr/>
          <p:nvPr/>
        </p:nvSpPr>
        <p:spPr>
          <a:xfrm>
            <a:off x="3273552" y="1280160"/>
            <a:ext cx="2523744" cy="237744"/>
          </a:xfrm>
          <a:prstGeom prst="rect">
            <a:avLst/>
          </a:prstGeom>
          <a:noFill/>
          <a:ln/>
        </p:spPr>
        <p:txBody>
          <a:bodyPr wrap="square" rtlCol="0" anchor="ctr"/>
          <a:lstStyle/>
          <a:p>
            <a:pPr algn="ctr" indent="0" marL="0">
              <a:buNone/>
            </a:pPr>
            <a:r>
              <a:rPr lang="en-US" sz="800" b="1" dirty="0">
                <a:solidFill>
                  <a:srgbClr val="8C69F0"/>
                </a:solidFill>
                <a:latin typeface="Arial" pitchFamily="34" charset="0"/>
                <a:ea typeface="Arial" pitchFamily="34" charset="-122"/>
                <a:cs typeface="Arial" pitchFamily="34" charset="-120"/>
              </a:rPr>
              <a:t>KPI FINANCIERO #2</a:t>
            </a:r>
            <a:endParaRPr lang="en-US" sz="800" dirty="0"/>
          </a:p>
        </p:txBody>
      </p:sp>
      <p:sp>
        <p:nvSpPr>
          <p:cNvPr id="19" name="Text 17"/>
          <p:cNvSpPr/>
          <p:nvPr/>
        </p:nvSpPr>
        <p:spPr>
          <a:xfrm>
            <a:off x="3273552" y="1536192"/>
            <a:ext cx="2523744" cy="512064"/>
          </a:xfrm>
          <a:prstGeom prst="rect">
            <a:avLst/>
          </a:prstGeom>
          <a:noFill/>
          <a:ln/>
        </p:spPr>
        <p:txBody>
          <a:bodyPr wrap="square" rtlCol="0" anchor="ctr"/>
          <a:lstStyle/>
          <a:p>
            <a:pPr algn="ctr" indent="0" marL="0">
              <a:buNone/>
            </a:pPr>
            <a:r>
              <a:rPr lang="en-US" sz="900" dirty="0">
                <a:solidFill>
                  <a:srgbClr val="B0BEC5"/>
                </a:solidFill>
                <a:latin typeface="Arial" pitchFamily="34" charset="0"/>
                <a:ea typeface="Arial" pitchFamily="34" charset="-122"/>
                <a:cs typeface="Arial" pitchFamily="34" charset="-120"/>
              </a:rPr>
              <a:t>Ejemplo: Presupuesto</a:t>
            </a:r>
            <a:endParaRPr lang="en-US" sz="900" dirty="0"/>
          </a:p>
          <a:p>
            <a:pPr algn="ctr" indent="0" marL="0">
              <a:buNone/>
            </a:pPr>
            <a:r>
              <a:rPr lang="en-US" sz="900" dirty="0">
                <a:solidFill>
                  <a:srgbClr val="B0BEC5"/>
                </a:solidFill>
                <a:latin typeface="Arial" pitchFamily="34" charset="0"/>
                <a:ea typeface="Arial" pitchFamily="34" charset="-122"/>
                <a:cs typeface="Arial" pitchFamily="34" charset="-120"/>
              </a:rPr>
              <a:t>ejecutado vs. proyectado</a:t>
            </a:r>
            <a:endParaRPr lang="en-US" sz="900" dirty="0"/>
          </a:p>
        </p:txBody>
      </p:sp>
      <p:sp>
        <p:nvSpPr>
          <p:cNvPr id="20" name="Shape 18"/>
          <p:cNvSpPr/>
          <p:nvPr/>
        </p:nvSpPr>
        <p:spPr>
          <a:xfrm>
            <a:off x="6108192" y="1170432"/>
            <a:ext cx="2706624" cy="1005840"/>
          </a:xfrm>
          <a:prstGeom prst="roundRect">
            <a:avLst>
              <a:gd name="adj" fmla="val 7273"/>
            </a:avLst>
          </a:prstGeom>
          <a:solidFill>
            <a:srgbClr val="1E0D4A"/>
          </a:solidFill>
          <a:ln w="19050">
            <a:solidFill>
              <a:srgbClr val="3C91FF"/>
            </a:solidFill>
            <a:prstDash val="solid"/>
          </a:ln>
        </p:spPr>
      </p:sp>
      <p:sp>
        <p:nvSpPr>
          <p:cNvPr id="21" name="Text 19"/>
          <p:cNvSpPr/>
          <p:nvPr/>
        </p:nvSpPr>
        <p:spPr>
          <a:xfrm>
            <a:off x="6199632" y="1280160"/>
            <a:ext cx="2523744" cy="237744"/>
          </a:xfrm>
          <a:prstGeom prst="rect">
            <a:avLst/>
          </a:prstGeom>
          <a:noFill/>
          <a:ln/>
        </p:spPr>
        <p:txBody>
          <a:bodyPr wrap="square" rtlCol="0" anchor="ctr"/>
          <a:lstStyle/>
          <a:p>
            <a:pPr algn="ctr" indent="0" marL="0">
              <a:buNone/>
            </a:pPr>
            <a:r>
              <a:rPr lang="en-US" sz="800" b="1" dirty="0">
                <a:solidFill>
                  <a:srgbClr val="3C91FF"/>
                </a:solidFill>
                <a:latin typeface="Arial" pitchFamily="34" charset="0"/>
                <a:ea typeface="Arial" pitchFamily="34" charset="-122"/>
                <a:cs typeface="Arial" pitchFamily="34" charset="-120"/>
              </a:rPr>
              <a:t>KPI FINANCIERO #3</a:t>
            </a:r>
            <a:endParaRPr lang="en-US" sz="800" dirty="0"/>
          </a:p>
        </p:txBody>
      </p:sp>
      <p:sp>
        <p:nvSpPr>
          <p:cNvPr id="22" name="Text 20"/>
          <p:cNvSpPr/>
          <p:nvPr/>
        </p:nvSpPr>
        <p:spPr>
          <a:xfrm>
            <a:off x="6199632" y="1536192"/>
            <a:ext cx="2523744" cy="512064"/>
          </a:xfrm>
          <a:prstGeom prst="rect">
            <a:avLst/>
          </a:prstGeom>
          <a:noFill/>
          <a:ln/>
        </p:spPr>
        <p:txBody>
          <a:bodyPr wrap="square" rtlCol="0" anchor="ctr"/>
          <a:lstStyle/>
          <a:p>
            <a:pPr algn="ctr" indent="0" marL="0">
              <a:buNone/>
            </a:pPr>
            <a:r>
              <a:rPr lang="en-US" sz="900" dirty="0">
                <a:solidFill>
                  <a:srgbClr val="B0BEC5"/>
                </a:solidFill>
                <a:latin typeface="Arial" pitchFamily="34" charset="0"/>
                <a:ea typeface="Arial" pitchFamily="34" charset="-122"/>
                <a:cs typeface="Arial" pitchFamily="34" charset="-120"/>
              </a:rPr>
              <a:t>Ejemplo: Saldo disponible</a:t>
            </a:r>
            <a:endParaRPr lang="en-US" sz="900" dirty="0"/>
          </a:p>
          <a:p>
            <a:pPr algn="ctr" indent="0" marL="0">
              <a:buNone/>
            </a:pPr>
            <a:r>
              <a:rPr lang="en-US" sz="900" dirty="0">
                <a:solidFill>
                  <a:srgbClr val="B0BEC5"/>
                </a:solidFill>
                <a:latin typeface="Arial" pitchFamily="34" charset="0"/>
                <a:ea typeface="Arial" pitchFamily="34" charset="-122"/>
                <a:cs typeface="Arial" pitchFamily="34" charset="-120"/>
              </a:rPr>
              <a:t>en cuenta bancaria</a:t>
            </a:r>
            <a:endParaRPr lang="en-US" sz="900" dirty="0"/>
          </a:p>
        </p:txBody>
      </p:sp>
      <p:sp>
        <p:nvSpPr>
          <p:cNvPr id="23" name="Shape 21"/>
          <p:cNvSpPr/>
          <p:nvPr/>
        </p:nvSpPr>
        <p:spPr>
          <a:xfrm>
            <a:off x="256032" y="2304288"/>
            <a:ext cx="4023360" cy="274320"/>
          </a:xfrm>
          <a:prstGeom prst="rect">
            <a:avLst/>
          </a:prstGeom>
          <a:solidFill>
            <a:srgbClr val="2D1870"/>
          </a:solidFill>
          <a:ln w="10160">
            <a:solidFill>
              <a:srgbClr val="5F1EBE"/>
            </a:solidFill>
            <a:prstDash val="solid"/>
          </a:ln>
        </p:spPr>
      </p:sp>
      <p:sp>
        <p:nvSpPr>
          <p:cNvPr id="24" name="Text 22"/>
          <p:cNvSpPr/>
          <p:nvPr/>
        </p:nvSpPr>
        <p:spPr>
          <a:xfrm>
            <a:off x="329184" y="2304288"/>
            <a:ext cx="3877056" cy="274320"/>
          </a:xfrm>
          <a:prstGeom prst="rect">
            <a:avLst/>
          </a:prstGeom>
          <a:noFill/>
          <a:ln/>
        </p:spPr>
        <p:txBody>
          <a:bodyPr wrap="square" rtlCol="0" anchor="ctr"/>
          <a:lstStyle/>
          <a:p>
            <a:pPr indent="0" marL="0">
              <a:buNone/>
            </a:pPr>
            <a:r>
              <a:rPr lang="en-US" sz="900" b="1" dirty="0">
                <a:solidFill>
                  <a:srgbClr val="B9C8FF"/>
                </a:solidFill>
                <a:latin typeface="Arial" pitchFamily="34" charset="0"/>
                <a:ea typeface="Arial" pitchFamily="34" charset="-122"/>
                <a:cs typeface="Arial" pitchFamily="34" charset="-120"/>
              </a:rPr>
              <a:t>Semáforo de Partidas — Ejecución vs. Presupuesto</a:t>
            </a:r>
            <a:endParaRPr lang="en-US" sz="900" dirty="0"/>
          </a:p>
        </p:txBody>
      </p:sp>
      <p:sp>
        <p:nvSpPr>
          <p:cNvPr id="25" name="Shape 23"/>
          <p:cNvSpPr/>
          <p:nvPr/>
        </p:nvSpPr>
        <p:spPr>
          <a:xfrm>
            <a:off x="256032" y="2615184"/>
            <a:ext cx="4023360" cy="310896"/>
          </a:xfrm>
          <a:prstGeom prst="rect">
            <a:avLst/>
          </a:prstGeom>
          <a:solidFill>
            <a:srgbClr val="1E0D4A"/>
          </a:solidFill>
          <a:ln w="12700">
            <a:solidFill>
              <a:srgbClr val="1E0D4A"/>
            </a:solidFill>
            <a:prstDash val="solid"/>
          </a:ln>
        </p:spPr>
      </p:sp>
      <p:sp>
        <p:nvSpPr>
          <p:cNvPr id="26" name="Shape 24"/>
          <p:cNvSpPr/>
          <p:nvPr/>
        </p:nvSpPr>
        <p:spPr>
          <a:xfrm>
            <a:off x="256032" y="2615184"/>
            <a:ext cx="45720" cy="310896"/>
          </a:xfrm>
          <a:prstGeom prst="rect">
            <a:avLst/>
          </a:prstGeom>
          <a:solidFill>
            <a:srgbClr val="00C853"/>
          </a:solidFill>
          <a:ln w="12700">
            <a:solidFill>
              <a:srgbClr val="00C853"/>
            </a:solidFill>
            <a:prstDash val="solid"/>
          </a:ln>
        </p:spPr>
      </p:sp>
      <p:sp>
        <p:nvSpPr>
          <p:cNvPr id="27" name="Text 25"/>
          <p:cNvSpPr/>
          <p:nvPr/>
        </p:nvSpPr>
        <p:spPr>
          <a:xfrm>
            <a:off x="329184" y="2660904"/>
            <a:ext cx="2560320"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Construcción Fase 1</a:t>
            </a:r>
            <a:endParaRPr lang="en-US" sz="800" dirty="0"/>
          </a:p>
        </p:txBody>
      </p:sp>
      <p:sp>
        <p:nvSpPr>
          <p:cNvPr id="28" name="Text 26"/>
          <p:cNvSpPr/>
          <p:nvPr/>
        </p:nvSpPr>
        <p:spPr>
          <a:xfrm>
            <a:off x="3200400" y="2660904"/>
            <a:ext cx="548640" cy="219456"/>
          </a:xfrm>
          <a:prstGeom prst="rect">
            <a:avLst/>
          </a:prstGeom>
          <a:noFill/>
          <a:ln/>
        </p:spPr>
        <p:txBody>
          <a:bodyPr wrap="square" rtlCol="0" anchor="ctr"/>
          <a:lstStyle/>
          <a:p>
            <a:pPr algn="r" indent="0" marL="0">
              <a:buNone/>
            </a:pPr>
            <a:r>
              <a:rPr lang="en-US" sz="900" b="1" dirty="0">
                <a:solidFill>
                  <a:srgbClr val="00C853"/>
                </a:solidFill>
                <a:latin typeface="Arial" pitchFamily="34" charset="0"/>
                <a:ea typeface="Arial" pitchFamily="34" charset="-122"/>
                <a:cs typeface="Arial" pitchFamily="34" charset="-120"/>
              </a:rPr>
              <a:t>72%</a:t>
            </a:r>
            <a:endParaRPr lang="en-US" sz="900" dirty="0"/>
          </a:p>
        </p:txBody>
      </p:sp>
      <p:sp>
        <p:nvSpPr>
          <p:cNvPr id="29" name="Shape 27"/>
          <p:cNvSpPr/>
          <p:nvPr/>
        </p:nvSpPr>
        <p:spPr>
          <a:xfrm>
            <a:off x="3803904" y="2706624"/>
            <a:ext cx="402336" cy="128016"/>
          </a:xfrm>
          <a:prstGeom prst="rect">
            <a:avLst/>
          </a:prstGeom>
          <a:solidFill>
            <a:srgbClr val="3D2490"/>
          </a:solidFill>
          <a:ln w="12700">
            <a:solidFill>
              <a:srgbClr val="3D2490"/>
            </a:solidFill>
            <a:prstDash val="solid"/>
          </a:ln>
        </p:spPr>
      </p:sp>
      <p:sp>
        <p:nvSpPr>
          <p:cNvPr id="30" name="Shape 28"/>
          <p:cNvSpPr/>
          <p:nvPr/>
        </p:nvSpPr>
        <p:spPr>
          <a:xfrm>
            <a:off x="3803904" y="2706624"/>
            <a:ext cx="289682" cy="128016"/>
          </a:xfrm>
          <a:prstGeom prst="rect">
            <a:avLst/>
          </a:prstGeom>
          <a:solidFill>
            <a:srgbClr val="00C853"/>
          </a:solidFill>
          <a:ln w="12700">
            <a:solidFill>
              <a:srgbClr val="00C853"/>
            </a:solidFill>
            <a:prstDash val="solid"/>
          </a:ln>
        </p:spPr>
      </p:sp>
      <p:sp>
        <p:nvSpPr>
          <p:cNvPr id="31" name="Shape 29"/>
          <p:cNvSpPr/>
          <p:nvPr/>
        </p:nvSpPr>
        <p:spPr>
          <a:xfrm>
            <a:off x="256032" y="2962656"/>
            <a:ext cx="4023360" cy="310896"/>
          </a:xfrm>
          <a:prstGeom prst="rect">
            <a:avLst/>
          </a:prstGeom>
          <a:solidFill>
            <a:srgbClr val="2D1870"/>
          </a:solidFill>
          <a:ln w="12700">
            <a:solidFill>
              <a:srgbClr val="1E0D4A"/>
            </a:solidFill>
            <a:prstDash val="solid"/>
          </a:ln>
        </p:spPr>
      </p:sp>
      <p:sp>
        <p:nvSpPr>
          <p:cNvPr id="32" name="Shape 30"/>
          <p:cNvSpPr/>
          <p:nvPr/>
        </p:nvSpPr>
        <p:spPr>
          <a:xfrm>
            <a:off x="256032" y="2962656"/>
            <a:ext cx="45720" cy="310896"/>
          </a:xfrm>
          <a:prstGeom prst="rect">
            <a:avLst/>
          </a:prstGeom>
          <a:solidFill>
            <a:srgbClr val="FFA726"/>
          </a:solidFill>
          <a:ln w="12700">
            <a:solidFill>
              <a:srgbClr val="FFA726"/>
            </a:solidFill>
            <a:prstDash val="solid"/>
          </a:ln>
        </p:spPr>
      </p:sp>
      <p:sp>
        <p:nvSpPr>
          <p:cNvPr id="33" name="Text 31"/>
          <p:cNvSpPr/>
          <p:nvPr/>
        </p:nvSpPr>
        <p:spPr>
          <a:xfrm>
            <a:off x="329184" y="3008376"/>
            <a:ext cx="2560320"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Materiales y Equipos</a:t>
            </a:r>
            <a:endParaRPr lang="en-US" sz="800" dirty="0"/>
          </a:p>
        </p:txBody>
      </p:sp>
      <p:sp>
        <p:nvSpPr>
          <p:cNvPr id="34" name="Text 32"/>
          <p:cNvSpPr/>
          <p:nvPr/>
        </p:nvSpPr>
        <p:spPr>
          <a:xfrm>
            <a:off x="3200400" y="3008376"/>
            <a:ext cx="548640" cy="219456"/>
          </a:xfrm>
          <a:prstGeom prst="rect">
            <a:avLst/>
          </a:prstGeom>
          <a:noFill/>
          <a:ln/>
        </p:spPr>
        <p:txBody>
          <a:bodyPr wrap="square" rtlCol="0" anchor="ctr"/>
          <a:lstStyle/>
          <a:p>
            <a:pPr algn="r" indent="0" marL="0">
              <a:buNone/>
            </a:pPr>
            <a:r>
              <a:rPr lang="en-US" sz="900" b="1" dirty="0">
                <a:solidFill>
                  <a:srgbClr val="FFA726"/>
                </a:solidFill>
                <a:latin typeface="Arial" pitchFamily="34" charset="0"/>
                <a:ea typeface="Arial" pitchFamily="34" charset="-122"/>
                <a:cs typeface="Arial" pitchFamily="34" charset="-120"/>
              </a:rPr>
              <a:t>95%</a:t>
            </a:r>
            <a:endParaRPr lang="en-US" sz="900" dirty="0"/>
          </a:p>
        </p:txBody>
      </p:sp>
      <p:sp>
        <p:nvSpPr>
          <p:cNvPr id="35" name="Shape 33"/>
          <p:cNvSpPr/>
          <p:nvPr/>
        </p:nvSpPr>
        <p:spPr>
          <a:xfrm>
            <a:off x="3803904" y="3054096"/>
            <a:ext cx="402336" cy="128016"/>
          </a:xfrm>
          <a:prstGeom prst="rect">
            <a:avLst/>
          </a:prstGeom>
          <a:solidFill>
            <a:srgbClr val="3D2490"/>
          </a:solidFill>
          <a:ln w="12700">
            <a:solidFill>
              <a:srgbClr val="3D2490"/>
            </a:solidFill>
            <a:prstDash val="solid"/>
          </a:ln>
        </p:spPr>
      </p:sp>
      <p:sp>
        <p:nvSpPr>
          <p:cNvPr id="36" name="Shape 34"/>
          <p:cNvSpPr/>
          <p:nvPr/>
        </p:nvSpPr>
        <p:spPr>
          <a:xfrm>
            <a:off x="3803904" y="3054096"/>
            <a:ext cx="382219" cy="128016"/>
          </a:xfrm>
          <a:prstGeom prst="rect">
            <a:avLst/>
          </a:prstGeom>
          <a:solidFill>
            <a:srgbClr val="FFA726"/>
          </a:solidFill>
          <a:ln w="12700">
            <a:solidFill>
              <a:srgbClr val="FFA726"/>
            </a:solidFill>
            <a:prstDash val="solid"/>
          </a:ln>
        </p:spPr>
      </p:sp>
      <p:sp>
        <p:nvSpPr>
          <p:cNvPr id="37" name="Shape 35"/>
          <p:cNvSpPr/>
          <p:nvPr/>
        </p:nvSpPr>
        <p:spPr>
          <a:xfrm>
            <a:off x="256032" y="3310128"/>
            <a:ext cx="4023360" cy="310896"/>
          </a:xfrm>
          <a:prstGeom prst="rect">
            <a:avLst/>
          </a:prstGeom>
          <a:solidFill>
            <a:srgbClr val="1E0D4A"/>
          </a:solidFill>
          <a:ln w="12700">
            <a:solidFill>
              <a:srgbClr val="1E0D4A"/>
            </a:solidFill>
            <a:prstDash val="solid"/>
          </a:ln>
        </p:spPr>
      </p:sp>
      <p:sp>
        <p:nvSpPr>
          <p:cNvPr id="38" name="Shape 36"/>
          <p:cNvSpPr/>
          <p:nvPr/>
        </p:nvSpPr>
        <p:spPr>
          <a:xfrm>
            <a:off x="256032" y="3310128"/>
            <a:ext cx="45720" cy="310896"/>
          </a:xfrm>
          <a:prstGeom prst="rect">
            <a:avLst/>
          </a:prstGeom>
          <a:solidFill>
            <a:srgbClr val="EF5350"/>
          </a:solidFill>
          <a:ln w="12700">
            <a:solidFill>
              <a:srgbClr val="EF5350"/>
            </a:solidFill>
            <a:prstDash val="solid"/>
          </a:ln>
        </p:spPr>
      </p:sp>
      <p:sp>
        <p:nvSpPr>
          <p:cNvPr id="39" name="Text 37"/>
          <p:cNvSpPr/>
          <p:nvPr/>
        </p:nvSpPr>
        <p:spPr>
          <a:xfrm>
            <a:off x="329184" y="3355848"/>
            <a:ext cx="2560320"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Gastos Financieros</a:t>
            </a:r>
            <a:endParaRPr lang="en-US" sz="800" dirty="0"/>
          </a:p>
        </p:txBody>
      </p:sp>
      <p:sp>
        <p:nvSpPr>
          <p:cNvPr id="40" name="Text 38"/>
          <p:cNvSpPr/>
          <p:nvPr/>
        </p:nvSpPr>
        <p:spPr>
          <a:xfrm>
            <a:off x="3200400" y="3355848"/>
            <a:ext cx="548640" cy="219456"/>
          </a:xfrm>
          <a:prstGeom prst="rect">
            <a:avLst/>
          </a:prstGeom>
          <a:noFill/>
          <a:ln/>
        </p:spPr>
        <p:txBody>
          <a:bodyPr wrap="square" rtlCol="0" anchor="ctr"/>
          <a:lstStyle/>
          <a:p>
            <a:pPr algn="r" indent="0" marL="0">
              <a:buNone/>
            </a:pPr>
            <a:r>
              <a:rPr lang="en-US" sz="900" b="1" dirty="0">
                <a:solidFill>
                  <a:srgbClr val="EF5350"/>
                </a:solidFill>
                <a:latin typeface="Arial" pitchFamily="34" charset="0"/>
                <a:ea typeface="Arial" pitchFamily="34" charset="-122"/>
                <a:cs typeface="Arial" pitchFamily="34" charset="-120"/>
              </a:rPr>
              <a:t>112%</a:t>
            </a:r>
            <a:endParaRPr lang="en-US" sz="900" dirty="0"/>
          </a:p>
        </p:txBody>
      </p:sp>
      <p:sp>
        <p:nvSpPr>
          <p:cNvPr id="41" name="Shape 39"/>
          <p:cNvSpPr/>
          <p:nvPr/>
        </p:nvSpPr>
        <p:spPr>
          <a:xfrm>
            <a:off x="3803904" y="3401568"/>
            <a:ext cx="402336" cy="128016"/>
          </a:xfrm>
          <a:prstGeom prst="rect">
            <a:avLst/>
          </a:prstGeom>
          <a:solidFill>
            <a:srgbClr val="3D2490"/>
          </a:solidFill>
          <a:ln w="12700">
            <a:solidFill>
              <a:srgbClr val="3D2490"/>
            </a:solidFill>
            <a:prstDash val="solid"/>
          </a:ln>
        </p:spPr>
      </p:sp>
      <p:sp>
        <p:nvSpPr>
          <p:cNvPr id="42" name="Shape 40"/>
          <p:cNvSpPr/>
          <p:nvPr/>
        </p:nvSpPr>
        <p:spPr>
          <a:xfrm>
            <a:off x="3803904" y="3401568"/>
            <a:ext cx="402336" cy="128016"/>
          </a:xfrm>
          <a:prstGeom prst="rect">
            <a:avLst/>
          </a:prstGeom>
          <a:solidFill>
            <a:srgbClr val="EF5350"/>
          </a:solidFill>
          <a:ln w="12700">
            <a:solidFill>
              <a:srgbClr val="EF5350"/>
            </a:solidFill>
            <a:prstDash val="solid"/>
          </a:ln>
        </p:spPr>
      </p:sp>
      <p:sp>
        <p:nvSpPr>
          <p:cNvPr id="43" name="Shape 41"/>
          <p:cNvSpPr/>
          <p:nvPr/>
        </p:nvSpPr>
        <p:spPr>
          <a:xfrm>
            <a:off x="256032" y="3657600"/>
            <a:ext cx="4023360" cy="310896"/>
          </a:xfrm>
          <a:prstGeom prst="rect">
            <a:avLst/>
          </a:prstGeom>
          <a:solidFill>
            <a:srgbClr val="2D1870"/>
          </a:solidFill>
          <a:ln w="12700">
            <a:solidFill>
              <a:srgbClr val="1E0D4A"/>
            </a:solidFill>
            <a:prstDash val="solid"/>
          </a:ln>
        </p:spPr>
      </p:sp>
      <p:sp>
        <p:nvSpPr>
          <p:cNvPr id="44" name="Shape 42"/>
          <p:cNvSpPr/>
          <p:nvPr/>
        </p:nvSpPr>
        <p:spPr>
          <a:xfrm>
            <a:off x="256032" y="3657600"/>
            <a:ext cx="45720" cy="310896"/>
          </a:xfrm>
          <a:prstGeom prst="rect">
            <a:avLst/>
          </a:prstGeom>
          <a:solidFill>
            <a:srgbClr val="00C853"/>
          </a:solidFill>
          <a:ln w="12700">
            <a:solidFill>
              <a:srgbClr val="00C853"/>
            </a:solidFill>
            <a:prstDash val="solid"/>
          </a:ln>
        </p:spPr>
      </p:sp>
      <p:sp>
        <p:nvSpPr>
          <p:cNvPr id="45" name="Text 43"/>
          <p:cNvSpPr/>
          <p:nvPr/>
        </p:nvSpPr>
        <p:spPr>
          <a:xfrm>
            <a:off x="329184" y="3703320"/>
            <a:ext cx="2560320"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Honorarios Profesionales</a:t>
            </a:r>
            <a:endParaRPr lang="en-US" sz="800" dirty="0"/>
          </a:p>
        </p:txBody>
      </p:sp>
      <p:sp>
        <p:nvSpPr>
          <p:cNvPr id="46" name="Text 44"/>
          <p:cNvSpPr/>
          <p:nvPr/>
        </p:nvSpPr>
        <p:spPr>
          <a:xfrm>
            <a:off x="3200400" y="3703320"/>
            <a:ext cx="548640" cy="219456"/>
          </a:xfrm>
          <a:prstGeom prst="rect">
            <a:avLst/>
          </a:prstGeom>
          <a:noFill/>
          <a:ln/>
        </p:spPr>
        <p:txBody>
          <a:bodyPr wrap="square" rtlCol="0" anchor="ctr"/>
          <a:lstStyle/>
          <a:p>
            <a:pPr algn="r" indent="0" marL="0">
              <a:buNone/>
            </a:pPr>
            <a:r>
              <a:rPr lang="en-US" sz="900" b="1" dirty="0">
                <a:solidFill>
                  <a:srgbClr val="00C853"/>
                </a:solidFill>
                <a:latin typeface="Arial" pitchFamily="34" charset="0"/>
                <a:ea typeface="Arial" pitchFamily="34" charset="-122"/>
                <a:cs typeface="Arial" pitchFamily="34" charset="-120"/>
              </a:rPr>
              <a:t>45%</a:t>
            </a:r>
            <a:endParaRPr lang="en-US" sz="900" dirty="0"/>
          </a:p>
        </p:txBody>
      </p:sp>
      <p:sp>
        <p:nvSpPr>
          <p:cNvPr id="47" name="Shape 45"/>
          <p:cNvSpPr/>
          <p:nvPr/>
        </p:nvSpPr>
        <p:spPr>
          <a:xfrm>
            <a:off x="3803904" y="3749040"/>
            <a:ext cx="402336" cy="128016"/>
          </a:xfrm>
          <a:prstGeom prst="rect">
            <a:avLst/>
          </a:prstGeom>
          <a:solidFill>
            <a:srgbClr val="3D2490"/>
          </a:solidFill>
          <a:ln w="12700">
            <a:solidFill>
              <a:srgbClr val="3D2490"/>
            </a:solidFill>
            <a:prstDash val="solid"/>
          </a:ln>
        </p:spPr>
      </p:sp>
      <p:sp>
        <p:nvSpPr>
          <p:cNvPr id="48" name="Shape 46"/>
          <p:cNvSpPr/>
          <p:nvPr/>
        </p:nvSpPr>
        <p:spPr>
          <a:xfrm>
            <a:off x="3803904" y="3749040"/>
            <a:ext cx="181051" cy="128016"/>
          </a:xfrm>
          <a:prstGeom prst="rect">
            <a:avLst/>
          </a:prstGeom>
          <a:solidFill>
            <a:srgbClr val="00C853"/>
          </a:solidFill>
          <a:ln w="12700">
            <a:solidFill>
              <a:srgbClr val="00C853"/>
            </a:solidFill>
            <a:prstDash val="solid"/>
          </a:ln>
        </p:spPr>
      </p:sp>
      <p:sp>
        <p:nvSpPr>
          <p:cNvPr id="49" name="Shape 47"/>
          <p:cNvSpPr/>
          <p:nvPr/>
        </p:nvSpPr>
        <p:spPr>
          <a:xfrm>
            <a:off x="256032" y="4005072"/>
            <a:ext cx="4023360" cy="310896"/>
          </a:xfrm>
          <a:prstGeom prst="rect">
            <a:avLst/>
          </a:prstGeom>
          <a:solidFill>
            <a:srgbClr val="1E0D4A"/>
          </a:solidFill>
          <a:ln w="12700">
            <a:solidFill>
              <a:srgbClr val="1E0D4A"/>
            </a:solidFill>
            <a:prstDash val="solid"/>
          </a:ln>
        </p:spPr>
      </p:sp>
      <p:sp>
        <p:nvSpPr>
          <p:cNvPr id="50" name="Shape 48"/>
          <p:cNvSpPr/>
          <p:nvPr/>
        </p:nvSpPr>
        <p:spPr>
          <a:xfrm>
            <a:off x="256032" y="4005072"/>
            <a:ext cx="45720" cy="310896"/>
          </a:xfrm>
          <a:prstGeom prst="rect">
            <a:avLst/>
          </a:prstGeom>
          <a:solidFill>
            <a:srgbClr val="FFA726"/>
          </a:solidFill>
          <a:ln w="12700">
            <a:solidFill>
              <a:srgbClr val="FFA726"/>
            </a:solidFill>
            <a:prstDash val="solid"/>
          </a:ln>
        </p:spPr>
      </p:sp>
      <p:sp>
        <p:nvSpPr>
          <p:cNvPr id="51" name="Text 49"/>
          <p:cNvSpPr/>
          <p:nvPr/>
        </p:nvSpPr>
        <p:spPr>
          <a:xfrm>
            <a:off x="329184" y="4050792"/>
            <a:ext cx="2560320"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Imprevistos</a:t>
            </a:r>
            <a:endParaRPr lang="en-US" sz="800" dirty="0"/>
          </a:p>
        </p:txBody>
      </p:sp>
      <p:sp>
        <p:nvSpPr>
          <p:cNvPr id="52" name="Text 50"/>
          <p:cNvSpPr/>
          <p:nvPr/>
        </p:nvSpPr>
        <p:spPr>
          <a:xfrm>
            <a:off x="3200400" y="4050792"/>
            <a:ext cx="548640" cy="219456"/>
          </a:xfrm>
          <a:prstGeom prst="rect">
            <a:avLst/>
          </a:prstGeom>
          <a:noFill/>
          <a:ln/>
        </p:spPr>
        <p:txBody>
          <a:bodyPr wrap="square" rtlCol="0" anchor="ctr"/>
          <a:lstStyle/>
          <a:p>
            <a:pPr algn="r" indent="0" marL="0">
              <a:buNone/>
            </a:pPr>
            <a:r>
              <a:rPr lang="en-US" sz="900" b="1" dirty="0">
                <a:solidFill>
                  <a:srgbClr val="FFA726"/>
                </a:solidFill>
                <a:latin typeface="Arial" pitchFamily="34" charset="0"/>
                <a:ea typeface="Arial" pitchFamily="34" charset="-122"/>
                <a:cs typeface="Arial" pitchFamily="34" charset="-120"/>
              </a:rPr>
              <a:t>88%</a:t>
            </a:r>
            <a:endParaRPr lang="en-US" sz="900" dirty="0"/>
          </a:p>
        </p:txBody>
      </p:sp>
      <p:sp>
        <p:nvSpPr>
          <p:cNvPr id="53" name="Shape 51"/>
          <p:cNvSpPr/>
          <p:nvPr/>
        </p:nvSpPr>
        <p:spPr>
          <a:xfrm>
            <a:off x="3803904" y="4096512"/>
            <a:ext cx="402336" cy="128016"/>
          </a:xfrm>
          <a:prstGeom prst="rect">
            <a:avLst/>
          </a:prstGeom>
          <a:solidFill>
            <a:srgbClr val="3D2490"/>
          </a:solidFill>
          <a:ln w="12700">
            <a:solidFill>
              <a:srgbClr val="3D2490"/>
            </a:solidFill>
            <a:prstDash val="solid"/>
          </a:ln>
        </p:spPr>
      </p:sp>
      <p:sp>
        <p:nvSpPr>
          <p:cNvPr id="54" name="Shape 52"/>
          <p:cNvSpPr/>
          <p:nvPr/>
        </p:nvSpPr>
        <p:spPr>
          <a:xfrm>
            <a:off x="3803904" y="4096512"/>
            <a:ext cx="354056" cy="128016"/>
          </a:xfrm>
          <a:prstGeom prst="rect">
            <a:avLst/>
          </a:prstGeom>
          <a:solidFill>
            <a:srgbClr val="FFA726"/>
          </a:solidFill>
          <a:ln w="12700">
            <a:solidFill>
              <a:srgbClr val="FFA726"/>
            </a:solidFill>
            <a:prstDash val="solid"/>
          </a:ln>
        </p:spPr>
      </p:sp>
      <p:sp>
        <p:nvSpPr>
          <p:cNvPr id="55" name="Shape 53"/>
          <p:cNvSpPr/>
          <p:nvPr/>
        </p:nvSpPr>
        <p:spPr>
          <a:xfrm>
            <a:off x="4407408" y="2304288"/>
            <a:ext cx="4480560" cy="274320"/>
          </a:xfrm>
          <a:prstGeom prst="rect">
            <a:avLst/>
          </a:prstGeom>
          <a:solidFill>
            <a:srgbClr val="2D1870"/>
          </a:solidFill>
          <a:ln w="10160">
            <a:solidFill>
              <a:srgbClr val="3C91FF"/>
            </a:solidFill>
            <a:prstDash val="solid"/>
          </a:ln>
        </p:spPr>
      </p:sp>
      <p:sp>
        <p:nvSpPr>
          <p:cNvPr id="56" name="Text 54"/>
          <p:cNvSpPr/>
          <p:nvPr/>
        </p:nvSpPr>
        <p:spPr>
          <a:xfrm>
            <a:off x="4480560" y="2304288"/>
            <a:ext cx="4334256" cy="274320"/>
          </a:xfrm>
          <a:prstGeom prst="rect">
            <a:avLst/>
          </a:prstGeom>
          <a:noFill/>
          <a:ln/>
        </p:spPr>
        <p:txBody>
          <a:bodyPr wrap="square" rtlCol="0" anchor="ctr"/>
          <a:lstStyle/>
          <a:p>
            <a:pPr indent="0" marL="0">
              <a:buNone/>
            </a:pPr>
            <a:r>
              <a:rPr lang="en-US" sz="900" b="1" dirty="0">
                <a:solidFill>
                  <a:srgbClr val="B9C8FF"/>
                </a:solidFill>
                <a:latin typeface="Arial" pitchFamily="34" charset="0"/>
                <a:ea typeface="Arial" pitchFamily="34" charset="-122"/>
                <a:cs typeface="Arial" pitchFamily="34" charset="-120"/>
              </a:rPr>
              <a:t>Indicadores de Cartera — Módulo de Cobros</a:t>
            </a:r>
            <a:endParaRPr lang="en-US" sz="900" dirty="0"/>
          </a:p>
        </p:txBody>
      </p:sp>
      <p:sp>
        <p:nvSpPr>
          <p:cNvPr id="57" name="Shape 55"/>
          <p:cNvSpPr/>
          <p:nvPr/>
        </p:nvSpPr>
        <p:spPr>
          <a:xfrm>
            <a:off x="4407408" y="2615184"/>
            <a:ext cx="4480560" cy="310896"/>
          </a:xfrm>
          <a:prstGeom prst="rect">
            <a:avLst/>
          </a:prstGeom>
          <a:solidFill>
            <a:srgbClr val="1E0D4A"/>
          </a:solidFill>
          <a:ln w="12700">
            <a:solidFill>
              <a:srgbClr val="1E0D4A"/>
            </a:solidFill>
            <a:prstDash val="solid"/>
          </a:ln>
        </p:spPr>
      </p:sp>
      <p:sp>
        <p:nvSpPr>
          <p:cNvPr id="58" name="Shape 56"/>
          <p:cNvSpPr/>
          <p:nvPr/>
        </p:nvSpPr>
        <p:spPr>
          <a:xfrm>
            <a:off x="4407408" y="2615184"/>
            <a:ext cx="45720" cy="310896"/>
          </a:xfrm>
          <a:prstGeom prst="rect">
            <a:avLst/>
          </a:prstGeom>
          <a:solidFill>
            <a:srgbClr val="00C853"/>
          </a:solidFill>
          <a:ln w="12700">
            <a:solidFill>
              <a:srgbClr val="00C853"/>
            </a:solidFill>
            <a:prstDash val="solid"/>
          </a:ln>
        </p:spPr>
      </p:sp>
      <p:sp>
        <p:nvSpPr>
          <p:cNvPr id="59" name="Text 57"/>
          <p:cNvSpPr/>
          <p:nvPr/>
        </p:nvSpPr>
        <p:spPr>
          <a:xfrm>
            <a:off x="4480560" y="2660904"/>
            <a:ext cx="3108960"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 Cartera Sana</a:t>
            </a:r>
            <a:endParaRPr lang="en-US" sz="800" dirty="0"/>
          </a:p>
        </p:txBody>
      </p:sp>
      <p:sp>
        <p:nvSpPr>
          <p:cNvPr id="60" name="Text 58"/>
          <p:cNvSpPr/>
          <p:nvPr/>
        </p:nvSpPr>
        <p:spPr>
          <a:xfrm>
            <a:off x="7626096" y="2633472"/>
            <a:ext cx="1188720" cy="274320"/>
          </a:xfrm>
          <a:prstGeom prst="rect">
            <a:avLst/>
          </a:prstGeom>
          <a:noFill/>
          <a:ln/>
        </p:spPr>
        <p:txBody>
          <a:bodyPr wrap="square" rtlCol="0" anchor="ctr"/>
          <a:lstStyle/>
          <a:p>
            <a:pPr algn="ctr" indent="0" marL="0">
              <a:buNone/>
            </a:pPr>
            <a:r>
              <a:rPr lang="en-US" sz="1600" b="1" dirty="0">
                <a:solidFill>
                  <a:srgbClr val="00C853"/>
                </a:solidFill>
                <a:latin typeface="Arial" pitchFamily="34" charset="0"/>
                <a:ea typeface="Arial" pitchFamily="34" charset="-122"/>
                <a:cs typeface="Arial" pitchFamily="34" charset="-120"/>
              </a:rPr>
              <a:t>?</a:t>
            </a:r>
            <a:endParaRPr lang="en-US" sz="1600" dirty="0"/>
          </a:p>
        </p:txBody>
      </p:sp>
      <p:sp>
        <p:nvSpPr>
          <p:cNvPr id="61" name="Shape 59"/>
          <p:cNvSpPr/>
          <p:nvPr/>
        </p:nvSpPr>
        <p:spPr>
          <a:xfrm>
            <a:off x="4407408" y="2962656"/>
            <a:ext cx="4480560" cy="310896"/>
          </a:xfrm>
          <a:prstGeom prst="rect">
            <a:avLst/>
          </a:prstGeom>
          <a:solidFill>
            <a:srgbClr val="2D1870"/>
          </a:solidFill>
          <a:ln w="12700">
            <a:solidFill>
              <a:srgbClr val="1E0D4A"/>
            </a:solidFill>
            <a:prstDash val="solid"/>
          </a:ln>
        </p:spPr>
      </p:sp>
      <p:sp>
        <p:nvSpPr>
          <p:cNvPr id="62" name="Shape 60"/>
          <p:cNvSpPr/>
          <p:nvPr/>
        </p:nvSpPr>
        <p:spPr>
          <a:xfrm>
            <a:off x="4407408" y="2962656"/>
            <a:ext cx="45720" cy="310896"/>
          </a:xfrm>
          <a:prstGeom prst="rect">
            <a:avLst/>
          </a:prstGeom>
          <a:solidFill>
            <a:srgbClr val="3C91FF"/>
          </a:solidFill>
          <a:ln w="12700">
            <a:solidFill>
              <a:srgbClr val="3C91FF"/>
            </a:solidFill>
            <a:prstDash val="solid"/>
          </a:ln>
        </p:spPr>
      </p:sp>
      <p:sp>
        <p:nvSpPr>
          <p:cNvPr id="63" name="Text 61"/>
          <p:cNvSpPr/>
          <p:nvPr/>
        </p:nvSpPr>
        <p:spPr>
          <a:xfrm>
            <a:off x="4480560" y="3008376"/>
            <a:ext cx="3108960"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Tasa de Cobro del Mes</a:t>
            </a:r>
            <a:endParaRPr lang="en-US" sz="800" dirty="0"/>
          </a:p>
        </p:txBody>
      </p:sp>
      <p:sp>
        <p:nvSpPr>
          <p:cNvPr id="64" name="Text 62"/>
          <p:cNvSpPr/>
          <p:nvPr/>
        </p:nvSpPr>
        <p:spPr>
          <a:xfrm>
            <a:off x="7626096" y="2980944"/>
            <a:ext cx="1188720" cy="274320"/>
          </a:xfrm>
          <a:prstGeom prst="rect">
            <a:avLst/>
          </a:prstGeom>
          <a:noFill/>
          <a:ln/>
        </p:spPr>
        <p:txBody>
          <a:bodyPr wrap="square" rtlCol="0" anchor="ctr"/>
          <a:lstStyle/>
          <a:p>
            <a:pPr algn="ctr" indent="0" marL="0">
              <a:buNone/>
            </a:pPr>
            <a:r>
              <a:rPr lang="en-US" sz="1600" b="1" dirty="0">
                <a:solidFill>
                  <a:srgbClr val="3C91FF"/>
                </a:solidFill>
                <a:latin typeface="Arial" pitchFamily="34" charset="0"/>
                <a:ea typeface="Arial" pitchFamily="34" charset="-122"/>
                <a:cs typeface="Arial" pitchFamily="34" charset="-120"/>
              </a:rPr>
              <a:t>?</a:t>
            </a:r>
            <a:endParaRPr lang="en-US" sz="1600" dirty="0"/>
          </a:p>
        </p:txBody>
      </p:sp>
      <p:sp>
        <p:nvSpPr>
          <p:cNvPr id="65" name="Shape 63"/>
          <p:cNvSpPr/>
          <p:nvPr/>
        </p:nvSpPr>
        <p:spPr>
          <a:xfrm>
            <a:off x="4407408" y="3310128"/>
            <a:ext cx="4480560" cy="310896"/>
          </a:xfrm>
          <a:prstGeom prst="rect">
            <a:avLst/>
          </a:prstGeom>
          <a:solidFill>
            <a:srgbClr val="1E0D4A"/>
          </a:solidFill>
          <a:ln w="12700">
            <a:solidFill>
              <a:srgbClr val="1E0D4A"/>
            </a:solidFill>
            <a:prstDash val="solid"/>
          </a:ln>
        </p:spPr>
      </p:sp>
      <p:sp>
        <p:nvSpPr>
          <p:cNvPr id="66" name="Shape 64"/>
          <p:cNvSpPr/>
          <p:nvPr/>
        </p:nvSpPr>
        <p:spPr>
          <a:xfrm>
            <a:off x="4407408" y="3310128"/>
            <a:ext cx="45720" cy="310896"/>
          </a:xfrm>
          <a:prstGeom prst="rect">
            <a:avLst/>
          </a:prstGeom>
          <a:solidFill>
            <a:srgbClr val="EF5350"/>
          </a:solidFill>
          <a:ln w="12700">
            <a:solidFill>
              <a:srgbClr val="EF5350"/>
            </a:solidFill>
            <a:prstDash val="solid"/>
          </a:ln>
        </p:spPr>
      </p:sp>
      <p:sp>
        <p:nvSpPr>
          <p:cNvPr id="67" name="Text 65"/>
          <p:cNvSpPr/>
          <p:nvPr/>
        </p:nvSpPr>
        <p:spPr>
          <a:xfrm>
            <a:off x="4480560" y="3355848"/>
            <a:ext cx="3108960"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Cartera Vencida Total</a:t>
            </a:r>
            <a:endParaRPr lang="en-US" sz="800" dirty="0"/>
          </a:p>
        </p:txBody>
      </p:sp>
      <p:sp>
        <p:nvSpPr>
          <p:cNvPr id="68" name="Text 66"/>
          <p:cNvSpPr/>
          <p:nvPr/>
        </p:nvSpPr>
        <p:spPr>
          <a:xfrm>
            <a:off x="7626096" y="3328416"/>
            <a:ext cx="1188720" cy="274320"/>
          </a:xfrm>
          <a:prstGeom prst="rect">
            <a:avLst/>
          </a:prstGeom>
          <a:noFill/>
          <a:ln/>
        </p:spPr>
        <p:txBody>
          <a:bodyPr wrap="square" rtlCol="0" anchor="ctr"/>
          <a:lstStyle/>
          <a:p>
            <a:pPr algn="ctr" indent="0" marL="0">
              <a:buNone/>
            </a:pPr>
            <a:r>
              <a:rPr lang="en-US" sz="1600" b="1" dirty="0">
                <a:solidFill>
                  <a:srgbClr val="EF5350"/>
                </a:solidFill>
                <a:latin typeface="Arial" pitchFamily="34" charset="0"/>
                <a:ea typeface="Arial" pitchFamily="34" charset="-122"/>
                <a:cs typeface="Arial" pitchFamily="34" charset="-120"/>
              </a:rPr>
              <a:t>?</a:t>
            </a:r>
            <a:endParaRPr lang="en-US" sz="1600" dirty="0"/>
          </a:p>
        </p:txBody>
      </p:sp>
      <p:sp>
        <p:nvSpPr>
          <p:cNvPr id="69" name="Shape 67"/>
          <p:cNvSpPr/>
          <p:nvPr/>
        </p:nvSpPr>
        <p:spPr>
          <a:xfrm>
            <a:off x="4407408" y="3657600"/>
            <a:ext cx="4480560" cy="310896"/>
          </a:xfrm>
          <a:prstGeom prst="rect">
            <a:avLst/>
          </a:prstGeom>
          <a:solidFill>
            <a:srgbClr val="2D1870"/>
          </a:solidFill>
          <a:ln w="12700">
            <a:solidFill>
              <a:srgbClr val="1E0D4A"/>
            </a:solidFill>
            <a:prstDash val="solid"/>
          </a:ln>
        </p:spPr>
      </p:sp>
      <p:sp>
        <p:nvSpPr>
          <p:cNvPr id="70" name="Shape 68"/>
          <p:cNvSpPr/>
          <p:nvPr/>
        </p:nvSpPr>
        <p:spPr>
          <a:xfrm>
            <a:off x="4407408" y="3657600"/>
            <a:ext cx="45720" cy="310896"/>
          </a:xfrm>
          <a:prstGeom prst="rect">
            <a:avLst/>
          </a:prstGeom>
          <a:solidFill>
            <a:srgbClr val="FFA726"/>
          </a:solidFill>
          <a:ln w="12700">
            <a:solidFill>
              <a:srgbClr val="FFA726"/>
            </a:solidFill>
            <a:prstDash val="solid"/>
          </a:ln>
        </p:spPr>
      </p:sp>
      <p:sp>
        <p:nvSpPr>
          <p:cNvPr id="71" name="Text 69"/>
          <p:cNvSpPr/>
          <p:nvPr/>
        </p:nvSpPr>
        <p:spPr>
          <a:xfrm>
            <a:off x="4480560" y="3703320"/>
            <a:ext cx="3108960"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Eficiencia por Oficial</a:t>
            </a:r>
            <a:endParaRPr lang="en-US" sz="800" dirty="0"/>
          </a:p>
        </p:txBody>
      </p:sp>
      <p:sp>
        <p:nvSpPr>
          <p:cNvPr id="72" name="Text 70"/>
          <p:cNvSpPr/>
          <p:nvPr/>
        </p:nvSpPr>
        <p:spPr>
          <a:xfrm>
            <a:off x="7626096" y="3675888"/>
            <a:ext cx="1188720" cy="274320"/>
          </a:xfrm>
          <a:prstGeom prst="rect">
            <a:avLst/>
          </a:prstGeom>
          <a:noFill/>
          <a:ln/>
        </p:spPr>
        <p:txBody>
          <a:bodyPr wrap="square" rtlCol="0" anchor="ctr"/>
          <a:lstStyle/>
          <a:p>
            <a:pPr algn="ctr" indent="0" marL="0">
              <a:buNone/>
            </a:pPr>
            <a:r>
              <a:rPr lang="en-US" sz="1600" b="1" dirty="0">
                <a:solidFill>
                  <a:srgbClr val="FFA726"/>
                </a:solidFill>
                <a:latin typeface="Arial" pitchFamily="34" charset="0"/>
                <a:ea typeface="Arial" pitchFamily="34" charset="-122"/>
                <a:cs typeface="Arial" pitchFamily="34" charset="-120"/>
              </a:rPr>
              <a:t>?</a:t>
            </a:r>
            <a:endParaRPr lang="en-US" sz="1600" dirty="0"/>
          </a:p>
        </p:txBody>
      </p:sp>
      <p:sp>
        <p:nvSpPr>
          <p:cNvPr id="73" name="Shape 71"/>
          <p:cNvSpPr/>
          <p:nvPr/>
        </p:nvSpPr>
        <p:spPr>
          <a:xfrm>
            <a:off x="256032" y="4407408"/>
            <a:ext cx="8631936" cy="329184"/>
          </a:xfrm>
          <a:prstGeom prst="roundRect">
            <a:avLst>
              <a:gd name="adj" fmla="val 16667"/>
            </a:avLst>
          </a:prstGeom>
          <a:solidFill>
            <a:srgbClr val="2D1870"/>
          </a:solidFill>
          <a:ln w="19050">
            <a:solidFill>
              <a:srgbClr val="FFA726"/>
            </a:solidFill>
            <a:prstDash val="solid"/>
          </a:ln>
        </p:spPr>
      </p:sp>
      <p:sp>
        <p:nvSpPr>
          <p:cNvPr id="74" name="Text 72"/>
          <p:cNvSpPr/>
          <p:nvPr/>
        </p:nvSpPr>
        <p:spPr>
          <a:xfrm>
            <a:off x="365760" y="4425696"/>
            <a:ext cx="8412480" cy="292608"/>
          </a:xfrm>
          <a:prstGeom prst="rect">
            <a:avLst/>
          </a:prstGeom>
          <a:noFill/>
          <a:ln/>
        </p:spPr>
        <p:txBody>
          <a:bodyPr wrap="square" rtlCol="0" anchor="ctr"/>
          <a:lstStyle/>
          <a:p>
            <a:pPr indent="0" marL="0">
              <a:buNone/>
            </a:pPr>
            <a:r>
              <a:rPr lang="en-US" sz="850" b="1" dirty="0">
                <a:solidFill>
                  <a:srgbClr val="FFA726"/>
                </a:solidFill>
                <a:latin typeface="Arial" pitchFamily="34" charset="0"/>
                <a:ea typeface="Arial" pitchFamily="34" charset="-122"/>
                <a:cs typeface="Arial" pitchFamily="34" charset="-120"/>
              </a:rPr>
              <a:t>❓  PREGUNTA PARA DUPE: ¿Cuáles son los 3 KPIs financieros más importantes para la gerencia? Los valores "?" serán definidos en la sesión de descubrimiento.</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Flujo de Orquestación Controlada — Módulo de Cobros</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Máquina de estados desde el registro de venta hasta el cierre de la cuota</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10</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pic>
        <p:nvPicPr>
          <p:cNvPr id="15" name="Image 0" descr="preencoded.png">    </p:cNvPr>
          <p:cNvPicPr>
            <a:picLocks noChangeAspect="1"/>
          </p:cNvPicPr>
          <p:nvPr/>
        </p:nvPicPr>
        <p:blipFill>
          <a:blip r:embed="rId1"/>
          <a:stretch>
            <a:fillRect/>
          </a:stretch>
        </p:blipFill>
        <p:spPr>
          <a:xfrm>
            <a:off x="164592" y="1115568"/>
            <a:ext cx="8814816" cy="3657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Construir vs. Orquestar — Límite del Alcance</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HCLTech construye la capa de control agéntico · los servicios externos se integran como herramientas</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11</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4" name="Shape 12"/>
          <p:cNvSpPr/>
          <p:nvPr/>
        </p:nvSpPr>
        <p:spPr>
          <a:xfrm>
            <a:off x="256032" y="1170432"/>
            <a:ext cx="4151376" cy="292608"/>
          </a:xfrm>
          <a:prstGeom prst="rect">
            <a:avLst/>
          </a:prstGeom>
          <a:solidFill>
            <a:srgbClr val="00C853"/>
          </a:solidFill>
          <a:ln w="12700">
            <a:solidFill>
              <a:srgbClr val="00C853"/>
            </a:solidFill>
            <a:prstDash val="solid"/>
          </a:ln>
        </p:spPr>
      </p:sp>
      <p:sp>
        <p:nvSpPr>
          <p:cNvPr id="15" name="Text 13"/>
          <p:cNvSpPr/>
          <p:nvPr/>
        </p:nvSpPr>
        <p:spPr>
          <a:xfrm>
            <a:off x="347472" y="1170432"/>
            <a:ext cx="3968496"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CONSTRUIR — HCLTech Desarrolla</a:t>
            </a:r>
            <a:endParaRPr lang="en-US" sz="900" dirty="0"/>
          </a:p>
        </p:txBody>
      </p:sp>
      <p:sp>
        <p:nvSpPr>
          <p:cNvPr id="16" name="Shape 14"/>
          <p:cNvSpPr/>
          <p:nvPr/>
        </p:nvSpPr>
        <p:spPr>
          <a:xfrm>
            <a:off x="256032" y="1499616"/>
            <a:ext cx="4151376" cy="347472"/>
          </a:xfrm>
          <a:prstGeom prst="rect">
            <a:avLst/>
          </a:prstGeom>
          <a:solidFill>
            <a:srgbClr val="1E0D4A"/>
          </a:solidFill>
          <a:ln w="12700">
            <a:solidFill>
              <a:srgbClr val="1E0D4A"/>
            </a:solidFill>
            <a:prstDash val="solid"/>
          </a:ln>
        </p:spPr>
      </p:sp>
      <p:sp>
        <p:nvSpPr>
          <p:cNvPr id="17" name="Shape 15"/>
          <p:cNvSpPr/>
          <p:nvPr/>
        </p:nvSpPr>
        <p:spPr>
          <a:xfrm>
            <a:off x="256032" y="1499616"/>
            <a:ext cx="45720" cy="347472"/>
          </a:xfrm>
          <a:prstGeom prst="rect">
            <a:avLst/>
          </a:prstGeom>
          <a:solidFill>
            <a:srgbClr val="00C853"/>
          </a:solidFill>
          <a:ln w="12700">
            <a:solidFill>
              <a:srgbClr val="00C853"/>
            </a:solidFill>
            <a:prstDash val="solid"/>
          </a:ln>
        </p:spPr>
      </p:sp>
      <p:sp>
        <p:nvSpPr>
          <p:cNvPr id="18" name="Text 16"/>
          <p:cNvSpPr/>
          <p:nvPr/>
        </p:nvSpPr>
        <p:spPr>
          <a:xfrm>
            <a:off x="365760" y="151790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Orquestador Agéntico</a:t>
            </a:r>
            <a:endParaRPr lang="en-US" sz="850" dirty="0"/>
          </a:p>
        </p:txBody>
      </p:sp>
      <p:sp>
        <p:nvSpPr>
          <p:cNvPr id="19" name="Shape 17"/>
          <p:cNvSpPr/>
          <p:nvPr/>
        </p:nvSpPr>
        <p:spPr>
          <a:xfrm>
            <a:off x="256032" y="1865376"/>
            <a:ext cx="4151376" cy="347472"/>
          </a:xfrm>
          <a:prstGeom prst="rect">
            <a:avLst/>
          </a:prstGeom>
          <a:solidFill>
            <a:srgbClr val="2D1870"/>
          </a:solidFill>
          <a:ln w="12700">
            <a:solidFill>
              <a:srgbClr val="1E0D4A"/>
            </a:solidFill>
            <a:prstDash val="solid"/>
          </a:ln>
        </p:spPr>
      </p:sp>
      <p:sp>
        <p:nvSpPr>
          <p:cNvPr id="20" name="Shape 18"/>
          <p:cNvSpPr/>
          <p:nvPr/>
        </p:nvSpPr>
        <p:spPr>
          <a:xfrm>
            <a:off x="256032" y="1865376"/>
            <a:ext cx="45720" cy="347472"/>
          </a:xfrm>
          <a:prstGeom prst="rect">
            <a:avLst/>
          </a:prstGeom>
          <a:solidFill>
            <a:srgbClr val="00C853"/>
          </a:solidFill>
          <a:ln w="12700">
            <a:solidFill>
              <a:srgbClr val="00C853"/>
            </a:solidFill>
            <a:prstDash val="solid"/>
          </a:ln>
        </p:spPr>
      </p:sp>
      <p:sp>
        <p:nvSpPr>
          <p:cNvPr id="21" name="Text 19"/>
          <p:cNvSpPr/>
          <p:nvPr/>
        </p:nvSpPr>
        <p:spPr>
          <a:xfrm>
            <a:off x="365760" y="188366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Agente de Conciliación + Almacén de Reglas</a:t>
            </a:r>
            <a:endParaRPr lang="en-US" sz="850" dirty="0"/>
          </a:p>
        </p:txBody>
      </p:sp>
      <p:sp>
        <p:nvSpPr>
          <p:cNvPr id="22" name="Shape 20"/>
          <p:cNvSpPr/>
          <p:nvPr/>
        </p:nvSpPr>
        <p:spPr>
          <a:xfrm>
            <a:off x="256032" y="2231136"/>
            <a:ext cx="4151376" cy="347472"/>
          </a:xfrm>
          <a:prstGeom prst="rect">
            <a:avLst/>
          </a:prstGeom>
          <a:solidFill>
            <a:srgbClr val="1E0D4A"/>
          </a:solidFill>
          <a:ln w="12700">
            <a:solidFill>
              <a:srgbClr val="1E0D4A"/>
            </a:solidFill>
            <a:prstDash val="solid"/>
          </a:ln>
        </p:spPr>
      </p:sp>
      <p:sp>
        <p:nvSpPr>
          <p:cNvPr id="23" name="Shape 21"/>
          <p:cNvSpPr/>
          <p:nvPr/>
        </p:nvSpPr>
        <p:spPr>
          <a:xfrm>
            <a:off x="256032" y="2231136"/>
            <a:ext cx="45720" cy="347472"/>
          </a:xfrm>
          <a:prstGeom prst="rect">
            <a:avLst/>
          </a:prstGeom>
          <a:solidFill>
            <a:srgbClr val="00C853"/>
          </a:solidFill>
          <a:ln w="12700">
            <a:solidFill>
              <a:srgbClr val="00C853"/>
            </a:solidFill>
            <a:prstDash val="solid"/>
          </a:ln>
        </p:spPr>
      </p:sp>
      <p:sp>
        <p:nvSpPr>
          <p:cNvPr id="24" name="Text 22"/>
          <p:cNvSpPr/>
          <p:nvPr/>
        </p:nvSpPr>
        <p:spPr>
          <a:xfrm>
            <a:off x="365760" y="224942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Agente de Notificaciones de Cobros</a:t>
            </a:r>
            <a:endParaRPr lang="en-US" sz="850" dirty="0"/>
          </a:p>
        </p:txBody>
      </p:sp>
      <p:sp>
        <p:nvSpPr>
          <p:cNvPr id="25" name="Shape 23"/>
          <p:cNvSpPr/>
          <p:nvPr/>
        </p:nvSpPr>
        <p:spPr>
          <a:xfrm>
            <a:off x="256032" y="2596896"/>
            <a:ext cx="4151376" cy="347472"/>
          </a:xfrm>
          <a:prstGeom prst="rect">
            <a:avLst/>
          </a:prstGeom>
          <a:solidFill>
            <a:srgbClr val="2D1870"/>
          </a:solidFill>
          <a:ln w="12700">
            <a:solidFill>
              <a:srgbClr val="1E0D4A"/>
            </a:solidFill>
            <a:prstDash val="solid"/>
          </a:ln>
        </p:spPr>
      </p:sp>
      <p:sp>
        <p:nvSpPr>
          <p:cNvPr id="26" name="Shape 24"/>
          <p:cNvSpPr/>
          <p:nvPr/>
        </p:nvSpPr>
        <p:spPr>
          <a:xfrm>
            <a:off x="256032" y="2596896"/>
            <a:ext cx="45720" cy="347472"/>
          </a:xfrm>
          <a:prstGeom prst="rect">
            <a:avLst/>
          </a:prstGeom>
          <a:solidFill>
            <a:srgbClr val="00C853"/>
          </a:solidFill>
          <a:ln w="12700">
            <a:solidFill>
              <a:srgbClr val="00C853"/>
            </a:solidFill>
            <a:prstDash val="solid"/>
          </a:ln>
        </p:spPr>
      </p:sp>
      <p:sp>
        <p:nvSpPr>
          <p:cNvPr id="27" name="Text 25"/>
          <p:cNvSpPr/>
          <p:nvPr/>
        </p:nvSpPr>
        <p:spPr>
          <a:xfrm>
            <a:off x="365760" y="261518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Agente de Inteligencia Financiera</a:t>
            </a:r>
            <a:endParaRPr lang="en-US" sz="850" dirty="0"/>
          </a:p>
        </p:txBody>
      </p:sp>
      <p:sp>
        <p:nvSpPr>
          <p:cNvPr id="28" name="Shape 26"/>
          <p:cNvSpPr/>
          <p:nvPr/>
        </p:nvSpPr>
        <p:spPr>
          <a:xfrm>
            <a:off x="256032" y="2962656"/>
            <a:ext cx="4151376" cy="347472"/>
          </a:xfrm>
          <a:prstGeom prst="rect">
            <a:avLst/>
          </a:prstGeom>
          <a:solidFill>
            <a:srgbClr val="1E0D4A"/>
          </a:solidFill>
          <a:ln w="12700">
            <a:solidFill>
              <a:srgbClr val="1E0D4A"/>
            </a:solidFill>
            <a:prstDash val="solid"/>
          </a:ln>
        </p:spPr>
      </p:sp>
      <p:sp>
        <p:nvSpPr>
          <p:cNvPr id="29" name="Shape 27"/>
          <p:cNvSpPr/>
          <p:nvPr/>
        </p:nvSpPr>
        <p:spPr>
          <a:xfrm>
            <a:off x="256032" y="2962656"/>
            <a:ext cx="45720" cy="347472"/>
          </a:xfrm>
          <a:prstGeom prst="rect">
            <a:avLst/>
          </a:prstGeom>
          <a:solidFill>
            <a:srgbClr val="00C853"/>
          </a:solidFill>
          <a:ln w="12700">
            <a:solidFill>
              <a:srgbClr val="00C853"/>
            </a:solidFill>
            <a:prstDash val="solid"/>
          </a:ln>
        </p:spPr>
      </p:sp>
      <p:sp>
        <p:nvSpPr>
          <p:cNvPr id="30" name="Text 28"/>
          <p:cNvSpPr/>
          <p:nvPr/>
        </p:nvSpPr>
        <p:spPr>
          <a:xfrm>
            <a:off x="365760" y="298094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Enrutador de Escalación</a:t>
            </a:r>
            <a:endParaRPr lang="en-US" sz="850" dirty="0"/>
          </a:p>
        </p:txBody>
      </p:sp>
      <p:sp>
        <p:nvSpPr>
          <p:cNvPr id="31" name="Shape 29"/>
          <p:cNvSpPr/>
          <p:nvPr/>
        </p:nvSpPr>
        <p:spPr>
          <a:xfrm>
            <a:off x="256032" y="3328416"/>
            <a:ext cx="4151376" cy="347472"/>
          </a:xfrm>
          <a:prstGeom prst="rect">
            <a:avLst/>
          </a:prstGeom>
          <a:solidFill>
            <a:srgbClr val="2D1870"/>
          </a:solidFill>
          <a:ln w="12700">
            <a:solidFill>
              <a:srgbClr val="1E0D4A"/>
            </a:solidFill>
            <a:prstDash val="solid"/>
          </a:ln>
        </p:spPr>
      </p:sp>
      <p:sp>
        <p:nvSpPr>
          <p:cNvPr id="32" name="Shape 30"/>
          <p:cNvSpPr/>
          <p:nvPr/>
        </p:nvSpPr>
        <p:spPr>
          <a:xfrm>
            <a:off x="256032" y="3328416"/>
            <a:ext cx="45720" cy="347472"/>
          </a:xfrm>
          <a:prstGeom prst="rect">
            <a:avLst/>
          </a:prstGeom>
          <a:solidFill>
            <a:srgbClr val="00C853"/>
          </a:solidFill>
          <a:ln w="12700">
            <a:solidFill>
              <a:srgbClr val="00C853"/>
            </a:solidFill>
            <a:prstDash val="solid"/>
          </a:ln>
        </p:spPr>
      </p:sp>
      <p:sp>
        <p:nvSpPr>
          <p:cNvPr id="33" name="Text 31"/>
          <p:cNvSpPr/>
          <p:nvPr/>
        </p:nvSpPr>
        <p:spPr>
          <a:xfrm>
            <a:off x="365760" y="334670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Agente de Reportes</a:t>
            </a:r>
            <a:endParaRPr lang="en-US" sz="850" dirty="0"/>
          </a:p>
        </p:txBody>
      </p:sp>
      <p:sp>
        <p:nvSpPr>
          <p:cNvPr id="34" name="Shape 32"/>
          <p:cNvSpPr/>
          <p:nvPr/>
        </p:nvSpPr>
        <p:spPr>
          <a:xfrm>
            <a:off x="256032" y="3694176"/>
            <a:ext cx="4151376" cy="347472"/>
          </a:xfrm>
          <a:prstGeom prst="rect">
            <a:avLst/>
          </a:prstGeom>
          <a:solidFill>
            <a:srgbClr val="1E0D4A"/>
          </a:solidFill>
          <a:ln w="12700">
            <a:solidFill>
              <a:srgbClr val="1E0D4A"/>
            </a:solidFill>
            <a:prstDash val="solid"/>
          </a:ln>
        </p:spPr>
      </p:sp>
      <p:sp>
        <p:nvSpPr>
          <p:cNvPr id="35" name="Shape 33"/>
          <p:cNvSpPr/>
          <p:nvPr/>
        </p:nvSpPr>
        <p:spPr>
          <a:xfrm>
            <a:off x="256032" y="3694176"/>
            <a:ext cx="45720" cy="347472"/>
          </a:xfrm>
          <a:prstGeom prst="rect">
            <a:avLst/>
          </a:prstGeom>
          <a:solidFill>
            <a:srgbClr val="00C853"/>
          </a:solidFill>
          <a:ln w="12700">
            <a:solidFill>
              <a:srgbClr val="00C853"/>
            </a:solidFill>
            <a:prstDash val="solid"/>
          </a:ln>
        </p:spPr>
      </p:sp>
      <p:sp>
        <p:nvSpPr>
          <p:cNvPr id="36" name="Text 34"/>
          <p:cNvSpPr/>
          <p:nvPr/>
        </p:nvSpPr>
        <p:spPr>
          <a:xfrm>
            <a:off x="365760" y="371246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Parser de Extracto Bancario (determinista)</a:t>
            </a:r>
            <a:endParaRPr lang="en-US" sz="850" dirty="0"/>
          </a:p>
        </p:txBody>
      </p:sp>
      <p:sp>
        <p:nvSpPr>
          <p:cNvPr id="37" name="Shape 35"/>
          <p:cNvSpPr/>
          <p:nvPr/>
        </p:nvSpPr>
        <p:spPr>
          <a:xfrm>
            <a:off x="256032" y="4059936"/>
            <a:ext cx="4151376" cy="347472"/>
          </a:xfrm>
          <a:prstGeom prst="rect">
            <a:avLst/>
          </a:prstGeom>
          <a:solidFill>
            <a:srgbClr val="2D1870"/>
          </a:solidFill>
          <a:ln w="12700">
            <a:solidFill>
              <a:srgbClr val="1E0D4A"/>
            </a:solidFill>
            <a:prstDash val="solid"/>
          </a:ln>
        </p:spPr>
      </p:sp>
      <p:sp>
        <p:nvSpPr>
          <p:cNvPr id="38" name="Shape 36"/>
          <p:cNvSpPr/>
          <p:nvPr/>
        </p:nvSpPr>
        <p:spPr>
          <a:xfrm>
            <a:off x="256032" y="4059936"/>
            <a:ext cx="45720" cy="347472"/>
          </a:xfrm>
          <a:prstGeom prst="rect">
            <a:avLst/>
          </a:prstGeom>
          <a:solidFill>
            <a:srgbClr val="00C853"/>
          </a:solidFill>
          <a:ln w="12700">
            <a:solidFill>
              <a:srgbClr val="00C853"/>
            </a:solidFill>
            <a:prstDash val="solid"/>
          </a:ln>
        </p:spPr>
      </p:sp>
      <p:sp>
        <p:nvSpPr>
          <p:cNvPr id="39" name="Text 37"/>
          <p:cNvSpPr/>
          <p:nvPr/>
        </p:nvSpPr>
        <p:spPr>
          <a:xfrm>
            <a:off x="365760" y="407822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Base de datos PostgreSQL multi-proyecto</a:t>
            </a:r>
            <a:endParaRPr lang="en-US" sz="850" dirty="0"/>
          </a:p>
        </p:txBody>
      </p:sp>
      <p:sp>
        <p:nvSpPr>
          <p:cNvPr id="40" name="Shape 38"/>
          <p:cNvSpPr/>
          <p:nvPr/>
        </p:nvSpPr>
        <p:spPr>
          <a:xfrm>
            <a:off x="256032" y="4425696"/>
            <a:ext cx="4151376" cy="347472"/>
          </a:xfrm>
          <a:prstGeom prst="rect">
            <a:avLst/>
          </a:prstGeom>
          <a:solidFill>
            <a:srgbClr val="1E0D4A"/>
          </a:solidFill>
          <a:ln w="12700">
            <a:solidFill>
              <a:srgbClr val="1E0D4A"/>
            </a:solidFill>
            <a:prstDash val="solid"/>
          </a:ln>
        </p:spPr>
      </p:sp>
      <p:sp>
        <p:nvSpPr>
          <p:cNvPr id="41" name="Shape 39"/>
          <p:cNvSpPr/>
          <p:nvPr/>
        </p:nvSpPr>
        <p:spPr>
          <a:xfrm>
            <a:off x="256032" y="4425696"/>
            <a:ext cx="45720" cy="347472"/>
          </a:xfrm>
          <a:prstGeom prst="rect">
            <a:avLst/>
          </a:prstGeom>
          <a:solidFill>
            <a:srgbClr val="00C853"/>
          </a:solidFill>
          <a:ln w="12700">
            <a:solidFill>
              <a:srgbClr val="00C853"/>
            </a:solidFill>
            <a:prstDash val="solid"/>
          </a:ln>
        </p:spPr>
      </p:sp>
      <p:sp>
        <p:nvSpPr>
          <p:cNvPr id="42" name="Text 40"/>
          <p:cNvSpPr/>
          <p:nvPr/>
        </p:nvSpPr>
        <p:spPr>
          <a:xfrm>
            <a:off x="365760" y="444398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Dashboards con control de acceso por rol</a:t>
            </a:r>
            <a:endParaRPr lang="en-US" sz="850" dirty="0"/>
          </a:p>
        </p:txBody>
      </p:sp>
      <p:sp>
        <p:nvSpPr>
          <p:cNvPr id="43" name="Shape 41"/>
          <p:cNvSpPr/>
          <p:nvPr/>
        </p:nvSpPr>
        <p:spPr>
          <a:xfrm>
            <a:off x="256032" y="4791456"/>
            <a:ext cx="4151376" cy="347472"/>
          </a:xfrm>
          <a:prstGeom prst="rect">
            <a:avLst/>
          </a:prstGeom>
          <a:solidFill>
            <a:srgbClr val="2D1870"/>
          </a:solidFill>
          <a:ln w="12700">
            <a:solidFill>
              <a:srgbClr val="1E0D4A"/>
            </a:solidFill>
            <a:prstDash val="solid"/>
          </a:ln>
        </p:spPr>
      </p:sp>
      <p:sp>
        <p:nvSpPr>
          <p:cNvPr id="44" name="Shape 42"/>
          <p:cNvSpPr/>
          <p:nvPr/>
        </p:nvSpPr>
        <p:spPr>
          <a:xfrm>
            <a:off x="256032" y="4791456"/>
            <a:ext cx="45720" cy="347472"/>
          </a:xfrm>
          <a:prstGeom prst="rect">
            <a:avLst/>
          </a:prstGeom>
          <a:solidFill>
            <a:srgbClr val="00C853"/>
          </a:solidFill>
          <a:ln w="12700">
            <a:solidFill>
              <a:srgbClr val="00C853"/>
            </a:solidFill>
            <a:prstDash val="solid"/>
          </a:ln>
        </p:spPr>
      </p:sp>
      <p:sp>
        <p:nvSpPr>
          <p:cNvPr id="45" name="Text 43"/>
          <p:cNvSpPr/>
          <p:nvPr/>
        </p:nvSpPr>
        <p:spPr>
          <a:xfrm>
            <a:off x="365760" y="480974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Almacén de auditoría y trazabilidad</a:t>
            </a:r>
            <a:endParaRPr lang="en-US" sz="850" dirty="0"/>
          </a:p>
        </p:txBody>
      </p:sp>
      <p:sp>
        <p:nvSpPr>
          <p:cNvPr id="46" name="Shape 44"/>
          <p:cNvSpPr/>
          <p:nvPr/>
        </p:nvSpPr>
        <p:spPr>
          <a:xfrm>
            <a:off x="4645152" y="1170432"/>
            <a:ext cx="4151376" cy="292608"/>
          </a:xfrm>
          <a:prstGeom prst="rect">
            <a:avLst/>
          </a:prstGeom>
          <a:solidFill>
            <a:srgbClr val="3C91FF"/>
          </a:solidFill>
          <a:ln w="12700">
            <a:solidFill>
              <a:srgbClr val="3C91FF"/>
            </a:solidFill>
            <a:prstDash val="solid"/>
          </a:ln>
        </p:spPr>
      </p:sp>
      <p:sp>
        <p:nvSpPr>
          <p:cNvPr id="47" name="Text 45"/>
          <p:cNvSpPr/>
          <p:nvPr/>
        </p:nvSpPr>
        <p:spPr>
          <a:xfrm>
            <a:off x="4736592" y="1170432"/>
            <a:ext cx="3968496" cy="29260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ORQUESTAR — Servicios Externos Controlados</a:t>
            </a:r>
            <a:endParaRPr lang="en-US" sz="900" dirty="0"/>
          </a:p>
        </p:txBody>
      </p:sp>
      <p:sp>
        <p:nvSpPr>
          <p:cNvPr id="48" name="Shape 46"/>
          <p:cNvSpPr/>
          <p:nvPr/>
        </p:nvSpPr>
        <p:spPr>
          <a:xfrm>
            <a:off x="4645152" y="1499616"/>
            <a:ext cx="4151376" cy="347472"/>
          </a:xfrm>
          <a:prstGeom prst="rect">
            <a:avLst/>
          </a:prstGeom>
          <a:solidFill>
            <a:srgbClr val="1E0D4A"/>
          </a:solidFill>
          <a:ln w="12700">
            <a:solidFill>
              <a:srgbClr val="1E0D4A"/>
            </a:solidFill>
            <a:prstDash val="solid"/>
          </a:ln>
        </p:spPr>
      </p:sp>
      <p:sp>
        <p:nvSpPr>
          <p:cNvPr id="49" name="Shape 47"/>
          <p:cNvSpPr/>
          <p:nvPr/>
        </p:nvSpPr>
        <p:spPr>
          <a:xfrm>
            <a:off x="4645152" y="1499616"/>
            <a:ext cx="45720" cy="347472"/>
          </a:xfrm>
          <a:prstGeom prst="rect">
            <a:avLst/>
          </a:prstGeom>
          <a:solidFill>
            <a:srgbClr val="3C91FF"/>
          </a:solidFill>
          <a:ln w="12700">
            <a:solidFill>
              <a:srgbClr val="3C91FF"/>
            </a:solidFill>
            <a:prstDash val="solid"/>
          </a:ln>
        </p:spPr>
      </p:sp>
      <p:sp>
        <p:nvSpPr>
          <p:cNvPr id="50" name="Text 48"/>
          <p:cNvSpPr/>
          <p:nvPr/>
        </p:nvSpPr>
        <p:spPr>
          <a:xfrm>
            <a:off x="4754880" y="151790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WhatsApp Business API (Meta Cloud)</a:t>
            </a:r>
            <a:endParaRPr lang="en-US" sz="850" dirty="0"/>
          </a:p>
        </p:txBody>
      </p:sp>
      <p:sp>
        <p:nvSpPr>
          <p:cNvPr id="51" name="Shape 49"/>
          <p:cNvSpPr/>
          <p:nvPr/>
        </p:nvSpPr>
        <p:spPr>
          <a:xfrm>
            <a:off x="4645152" y="1865376"/>
            <a:ext cx="4151376" cy="347472"/>
          </a:xfrm>
          <a:prstGeom prst="rect">
            <a:avLst/>
          </a:prstGeom>
          <a:solidFill>
            <a:srgbClr val="2D1870"/>
          </a:solidFill>
          <a:ln w="12700">
            <a:solidFill>
              <a:srgbClr val="1E0D4A"/>
            </a:solidFill>
            <a:prstDash val="solid"/>
          </a:ln>
        </p:spPr>
      </p:sp>
      <p:sp>
        <p:nvSpPr>
          <p:cNvPr id="52" name="Shape 50"/>
          <p:cNvSpPr/>
          <p:nvPr/>
        </p:nvSpPr>
        <p:spPr>
          <a:xfrm>
            <a:off x="4645152" y="1865376"/>
            <a:ext cx="45720" cy="347472"/>
          </a:xfrm>
          <a:prstGeom prst="rect">
            <a:avLst/>
          </a:prstGeom>
          <a:solidFill>
            <a:srgbClr val="3C91FF"/>
          </a:solidFill>
          <a:ln w="12700">
            <a:solidFill>
              <a:srgbClr val="3C91FF"/>
            </a:solidFill>
            <a:prstDash val="solid"/>
          </a:ln>
        </p:spPr>
      </p:sp>
      <p:sp>
        <p:nvSpPr>
          <p:cNvPr id="53" name="Text 51"/>
          <p:cNvSpPr/>
          <p:nvPr/>
        </p:nvSpPr>
        <p:spPr>
          <a:xfrm>
            <a:off x="4754880" y="188366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Correo electrónico transaccional (SendGrid)</a:t>
            </a:r>
            <a:endParaRPr lang="en-US" sz="850" dirty="0"/>
          </a:p>
        </p:txBody>
      </p:sp>
      <p:sp>
        <p:nvSpPr>
          <p:cNvPr id="54" name="Shape 52"/>
          <p:cNvSpPr/>
          <p:nvPr/>
        </p:nvSpPr>
        <p:spPr>
          <a:xfrm>
            <a:off x="4645152" y="2231136"/>
            <a:ext cx="4151376" cy="347472"/>
          </a:xfrm>
          <a:prstGeom prst="rect">
            <a:avLst/>
          </a:prstGeom>
          <a:solidFill>
            <a:srgbClr val="1E0D4A"/>
          </a:solidFill>
          <a:ln w="12700">
            <a:solidFill>
              <a:srgbClr val="1E0D4A"/>
            </a:solidFill>
            <a:prstDash val="solid"/>
          </a:ln>
        </p:spPr>
      </p:sp>
      <p:sp>
        <p:nvSpPr>
          <p:cNvPr id="55" name="Shape 53"/>
          <p:cNvSpPr/>
          <p:nvPr/>
        </p:nvSpPr>
        <p:spPr>
          <a:xfrm>
            <a:off x="4645152" y="2231136"/>
            <a:ext cx="45720" cy="347472"/>
          </a:xfrm>
          <a:prstGeom prst="rect">
            <a:avLst/>
          </a:prstGeom>
          <a:solidFill>
            <a:srgbClr val="3C91FF"/>
          </a:solidFill>
          <a:ln w="12700">
            <a:solidFill>
              <a:srgbClr val="3C91FF"/>
            </a:solidFill>
            <a:prstDash val="solid"/>
          </a:ln>
        </p:spPr>
      </p:sp>
      <p:sp>
        <p:nvSpPr>
          <p:cNvPr id="56" name="Text 54"/>
          <p:cNvSpPr/>
          <p:nvPr/>
        </p:nvSpPr>
        <p:spPr>
          <a:xfrm>
            <a:off x="4754880" y="224942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Extracto bancario Banco Popular (carga manual CSV/TXT)</a:t>
            </a:r>
            <a:endParaRPr lang="en-US" sz="850" dirty="0"/>
          </a:p>
        </p:txBody>
      </p:sp>
      <p:sp>
        <p:nvSpPr>
          <p:cNvPr id="57" name="Shape 55"/>
          <p:cNvSpPr/>
          <p:nvPr/>
        </p:nvSpPr>
        <p:spPr>
          <a:xfrm>
            <a:off x="4645152" y="2596896"/>
            <a:ext cx="4151376" cy="347472"/>
          </a:xfrm>
          <a:prstGeom prst="rect">
            <a:avLst/>
          </a:prstGeom>
          <a:solidFill>
            <a:srgbClr val="2D1870"/>
          </a:solidFill>
          <a:ln w="12700">
            <a:solidFill>
              <a:srgbClr val="1E0D4A"/>
            </a:solidFill>
            <a:prstDash val="solid"/>
          </a:ln>
        </p:spPr>
      </p:sp>
      <p:sp>
        <p:nvSpPr>
          <p:cNvPr id="58" name="Shape 56"/>
          <p:cNvSpPr/>
          <p:nvPr/>
        </p:nvSpPr>
        <p:spPr>
          <a:xfrm>
            <a:off x="4645152" y="2596896"/>
            <a:ext cx="45720" cy="347472"/>
          </a:xfrm>
          <a:prstGeom prst="rect">
            <a:avLst/>
          </a:prstGeom>
          <a:solidFill>
            <a:srgbClr val="3C91FF"/>
          </a:solidFill>
          <a:ln w="12700">
            <a:solidFill>
              <a:srgbClr val="3C91FF"/>
            </a:solidFill>
            <a:prstDash val="solid"/>
          </a:ln>
        </p:spPr>
      </p:sp>
      <p:sp>
        <p:nvSpPr>
          <p:cNvPr id="59" name="Text 57"/>
          <p:cNvSpPr/>
          <p:nvPr/>
        </p:nvSpPr>
        <p:spPr>
          <a:xfrm>
            <a:off x="4754880" y="261518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Generación de PDF / Excel (bibliotecas)</a:t>
            </a:r>
            <a:endParaRPr lang="en-US" sz="850" dirty="0"/>
          </a:p>
        </p:txBody>
      </p:sp>
      <p:sp>
        <p:nvSpPr>
          <p:cNvPr id="60" name="Shape 58"/>
          <p:cNvSpPr/>
          <p:nvPr/>
        </p:nvSpPr>
        <p:spPr>
          <a:xfrm>
            <a:off x="4645152" y="2962656"/>
            <a:ext cx="4151376" cy="347472"/>
          </a:xfrm>
          <a:prstGeom prst="rect">
            <a:avLst/>
          </a:prstGeom>
          <a:solidFill>
            <a:srgbClr val="1E0D4A"/>
          </a:solidFill>
          <a:ln w="12700">
            <a:solidFill>
              <a:srgbClr val="1E0D4A"/>
            </a:solidFill>
            <a:prstDash val="solid"/>
          </a:ln>
        </p:spPr>
      </p:sp>
      <p:sp>
        <p:nvSpPr>
          <p:cNvPr id="61" name="Shape 59"/>
          <p:cNvSpPr/>
          <p:nvPr/>
        </p:nvSpPr>
        <p:spPr>
          <a:xfrm>
            <a:off x="4645152" y="2962656"/>
            <a:ext cx="45720" cy="347472"/>
          </a:xfrm>
          <a:prstGeom prst="rect">
            <a:avLst/>
          </a:prstGeom>
          <a:solidFill>
            <a:srgbClr val="3C91FF"/>
          </a:solidFill>
          <a:ln w="12700">
            <a:solidFill>
              <a:srgbClr val="3C91FF"/>
            </a:solidFill>
            <a:prstDash val="solid"/>
          </a:ln>
        </p:spPr>
      </p:sp>
      <p:sp>
        <p:nvSpPr>
          <p:cNvPr id="62" name="Text 60"/>
          <p:cNvSpPr/>
          <p:nvPr/>
        </p:nvSpPr>
        <p:spPr>
          <a:xfrm>
            <a:off x="4754880" y="2980944"/>
            <a:ext cx="3950208" cy="31089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Formatos de extracto de los bancos de DR</a:t>
            </a:r>
            <a:endParaRPr lang="en-US" sz="850" dirty="0"/>
          </a:p>
        </p:txBody>
      </p:sp>
      <p:sp>
        <p:nvSpPr>
          <p:cNvPr id="63" name="Shape 61"/>
          <p:cNvSpPr/>
          <p:nvPr/>
        </p:nvSpPr>
        <p:spPr>
          <a:xfrm>
            <a:off x="4453128" y="1115568"/>
            <a:ext cx="54864" cy="3566160"/>
          </a:xfrm>
          <a:prstGeom prst="rect">
            <a:avLst/>
          </a:prstGeom>
          <a:solidFill>
            <a:srgbClr val="2D1870"/>
          </a:solidFill>
          <a:ln w="12700">
            <a:solidFill>
              <a:srgbClr val="2D1870"/>
            </a:solidFill>
            <a:prstDash val="solid"/>
          </a:ln>
        </p:spPr>
      </p:sp>
      <p:sp>
        <p:nvSpPr>
          <p:cNvPr id="64" name="Text 62"/>
          <p:cNvSpPr/>
          <p:nvPr/>
        </p:nvSpPr>
        <p:spPr>
          <a:xfrm>
            <a:off x="256032" y="4480560"/>
            <a:ext cx="4151376" cy="182880"/>
          </a:xfrm>
          <a:prstGeom prst="rect">
            <a:avLst/>
          </a:prstGeom>
          <a:noFill/>
          <a:ln/>
        </p:spPr>
        <p:txBody>
          <a:bodyPr wrap="square" rtlCol="0" anchor="ctr"/>
          <a:lstStyle/>
          <a:p>
            <a:pPr indent="0" marL="0">
              <a:buNone/>
            </a:pPr>
            <a:r>
              <a:rPr lang="en-US" sz="750" i="1" dirty="0">
                <a:solidFill>
                  <a:srgbClr val="00C853"/>
                </a:solidFill>
                <a:latin typeface="Arial" pitchFamily="34" charset="0"/>
                <a:ea typeface="Arial" pitchFamily="34" charset="-122"/>
                <a:cs typeface="Arial" pitchFamily="34" charset="-120"/>
              </a:rPr>
              <a:t>HCLTech construye y entrega este límite →</a:t>
            </a:r>
            <a:endParaRPr lang="en-US" sz="750" dirty="0"/>
          </a:p>
        </p:txBody>
      </p:sp>
      <p:sp>
        <p:nvSpPr>
          <p:cNvPr id="65" name="Text 63"/>
          <p:cNvSpPr/>
          <p:nvPr/>
        </p:nvSpPr>
        <p:spPr>
          <a:xfrm>
            <a:off x="4645152" y="4480560"/>
            <a:ext cx="4151376" cy="182880"/>
          </a:xfrm>
          <a:prstGeom prst="rect">
            <a:avLst/>
          </a:prstGeom>
          <a:noFill/>
          <a:ln/>
        </p:spPr>
        <p:txBody>
          <a:bodyPr wrap="square" rtlCol="0" anchor="ctr"/>
          <a:lstStyle/>
          <a:p>
            <a:pPr indent="0" marL="0">
              <a:buNone/>
            </a:pPr>
            <a:r>
              <a:rPr lang="en-US" sz="750" i="1" dirty="0">
                <a:solidFill>
                  <a:srgbClr val="3C91FF"/>
                </a:solidFill>
                <a:latin typeface="Arial" pitchFamily="34" charset="0"/>
                <a:ea typeface="Arial" pitchFamily="34" charset="-122"/>
                <a:cs typeface="Arial" pitchFamily="34" charset="-120"/>
              </a:rPr>
              <a:t>← Estos servicios se integran, no se reemplazan</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Estimado ROM — Solución MVP</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14–18 días de pod  ·  ~7–8 semanas calendario  ·  Pod agéntico de 3 roles</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12</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4" name="Shape 12"/>
          <p:cNvSpPr/>
          <p:nvPr/>
        </p:nvSpPr>
        <p:spPr>
          <a:xfrm>
            <a:off x="256032" y="1170432"/>
            <a:ext cx="2084832" cy="1133856"/>
          </a:xfrm>
          <a:prstGeom prst="roundRect">
            <a:avLst>
              <a:gd name="adj" fmla="val 6452"/>
            </a:avLst>
          </a:prstGeom>
          <a:solidFill>
            <a:srgbClr val="1E0D4A"/>
          </a:solidFill>
          <a:ln w="19050">
            <a:solidFill>
              <a:srgbClr val="FFA726"/>
            </a:solidFill>
            <a:prstDash val="solid"/>
          </a:ln>
        </p:spPr>
      </p:sp>
      <p:sp>
        <p:nvSpPr>
          <p:cNvPr id="15" name="Text 13"/>
          <p:cNvSpPr/>
          <p:nvPr/>
        </p:nvSpPr>
        <p:spPr>
          <a:xfrm>
            <a:off x="256032" y="1225296"/>
            <a:ext cx="2084832" cy="658368"/>
          </a:xfrm>
          <a:prstGeom prst="rect">
            <a:avLst/>
          </a:prstGeom>
          <a:noFill/>
          <a:ln/>
        </p:spPr>
        <p:txBody>
          <a:bodyPr wrap="square" rtlCol="0" anchor="ctr"/>
          <a:lstStyle/>
          <a:p>
            <a:pPr algn="ctr" indent="0" marL="0">
              <a:buNone/>
            </a:pPr>
            <a:r>
              <a:rPr lang="en-US" sz="3200" b="1" dirty="0">
                <a:solidFill>
                  <a:srgbClr val="FFA726"/>
                </a:solidFill>
                <a:latin typeface="Arial" pitchFamily="34" charset="0"/>
                <a:ea typeface="Arial" pitchFamily="34" charset="-122"/>
                <a:cs typeface="Arial" pitchFamily="34" charset="-120"/>
              </a:rPr>
              <a:t>14–18</a:t>
            </a:r>
            <a:endParaRPr lang="en-US" sz="3200" dirty="0"/>
          </a:p>
        </p:txBody>
      </p:sp>
      <p:sp>
        <p:nvSpPr>
          <p:cNvPr id="16" name="Text 14"/>
          <p:cNvSpPr/>
          <p:nvPr/>
        </p:nvSpPr>
        <p:spPr>
          <a:xfrm>
            <a:off x="256032" y="1883664"/>
            <a:ext cx="2084832" cy="365760"/>
          </a:xfrm>
          <a:prstGeom prst="rect">
            <a:avLst/>
          </a:prstGeom>
          <a:noFill/>
          <a:ln/>
        </p:spPr>
        <p:txBody>
          <a:bodyPr wrap="square" rtlCol="0" anchor="ctr"/>
          <a:lstStyle/>
          <a:p>
            <a:pPr algn="ctr" indent="0" marL="0">
              <a:buNone/>
            </a:pPr>
            <a:r>
              <a:rPr lang="en-US" sz="800" dirty="0">
                <a:solidFill>
                  <a:srgbClr val="B0BEC5"/>
                </a:solidFill>
                <a:latin typeface="Arial" pitchFamily="34" charset="0"/>
                <a:ea typeface="Arial" pitchFamily="34" charset="-122"/>
                <a:cs typeface="Arial" pitchFamily="34" charset="-120"/>
              </a:rPr>
              <a:t>Días de Pod</a:t>
            </a:r>
            <a:endParaRPr lang="en-US" sz="800" dirty="0"/>
          </a:p>
        </p:txBody>
      </p:sp>
      <p:sp>
        <p:nvSpPr>
          <p:cNvPr id="17" name="Shape 15"/>
          <p:cNvSpPr/>
          <p:nvPr/>
        </p:nvSpPr>
        <p:spPr>
          <a:xfrm>
            <a:off x="2468880" y="1170432"/>
            <a:ext cx="2084832" cy="1133856"/>
          </a:xfrm>
          <a:prstGeom prst="roundRect">
            <a:avLst>
              <a:gd name="adj" fmla="val 6452"/>
            </a:avLst>
          </a:prstGeom>
          <a:solidFill>
            <a:srgbClr val="1E0D4A"/>
          </a:solidFill>
          <a:ln w="19050">
            <a:solidFill>
              <a:srgbClr val="8CC8FA"/>
            </a:solidFill>
            <a:prstDash val="solid"/>
          </a:ln>
        </p:spPr>
      </p:sp>
      <p:sp>
        <p:nvSpPr>
          <p:cNvPr id="18" name="Text 16"/>
          <p:cNvSpPr/>
          <p:nvPr/>
        </p:nvSpPr>
        <p:spPr>
          <a:xfrm>
            <a:off x="2468880" y="1225296"/>
            <a:ext cx="2084832" cy="658368"/>
          </a:xfrm>
          <a:prstGeom prst="rect">
            <a:avLst/>
          </a:prstGeom>
          <a:noFill/>
          <a:ln/>
        </p:spPr>
        <p:txBody>
          <a:bodyPr wrap="square" rtlCol="0" anchor="ctr"/>
          <a:lstStyle/>
          <a:p>
            <a:pPr algn="ctr" indent="0" marL="0">
              <a:buNone/>
            </a:pPr>
            <a:r>
              <a:rPr lang="en-US" sz="3200" b="1" dirty="0">
                <a:solidFill>
                  <a:srgbClr val="8CC8FA"/>
                </a:solidFill>
                <a:latin typeface="Arial" pitchFamily="34" charset="0"/>
                <a:ea typeface="Arial" pitchFamily="34" charset="-122"/>
                <a:cs typeface="Arial" pitchFamily="34" charset="-120"/>
              </a:rPr>
              <a:t>~7–8</a:t>
            </a:r>
            <a:endParaRPr lang="en-US" sz="3200" dirty="0"/>
          </a:p>
        </p:txBody>
      </p:sp>
      <p:sp>
        <p:nvSpPr>
          <p:cNvPr id="19" name="Text 17"/>
          <p:cNvSpPr/>
          <p:nvPr/>
        </p:nvSpPr>
        <p:spPr>
          <a:xfrm>
            <a:off x="2468880" y="1883664"/>
            <a:ext cx="2084832" cy="365760"/>
          </a:xfrm>
          <a:prstGeom prst="rect">
            <a:avLst/>
          </a:prstGeom>
          <a:noFill/>
          <a:ln/>
        </p:spPr>
        <p:txBody>
          <a:bodyPr wrap="square" rtlCol="0" anchor="ctr"/>
          <a:lstStyle/>
          <a:p>
            <a:pPr algn="ctr" indent="0" marL="0">
              <a:buNone/>
            </a:pPr>
            <a:r>
              <a:rPr lang="en-US" sz="800" dirty="0">
                <a:solidFill>
                  <a:srgbClr val="B0BEC5"/>
                </a:solidFill>
                <a:latin typeface="Arial" pitchFamily="34" charset="0"/>
                <a:ea typeface="Arial" pitchFamily="34" charset="-122"/>
                <a:cs typeface="Arial" pitchFamily="34" charset="-120"/>
              </a:rPr>
              <a:t>Semanas Calendario</a:t>
            </a:r>
            <a:endParaRPr lang="en-US" sz="800" dirty="0"/>
          </a:p>
        </p:txBody>
      </p:sp>
      <p:sp>
        <p:nvSpPr>
          <p:cNvPr id="20" name="Shape 18"/>
          <p:cNvSpPr/>
          <p:nvPr/>
        </p:nvSpPr>
        <p:spPr>
          <a:xfrm>
            <a:off x="4681728" y="1170432"/>
            <a:ext cx="2084832" cy="1133856"/>
          </a:xfrm>
          <a:prstGeom prst="roundRect">
            <a:avLst>
              <a:gd name="adj" fmla="val 6452"/>
            </a:avLst>
          </a:prstGeom>
          <a:solidFill>
            <a:srgbClr val="1E0D4A"/>
          </a:solidFill>
          <a:ln w="19050">
            <a:solidFill>
              <a:srgbClr val="00C853"/>
            </a:solidFill>
            <a:prstDash val="solid"/>
          </a:ln>
        </p:spPr>
      </p:sp>
      <p:sp>
        <p:nvSpPr>
          <p:cNvPr id="21" name="Text 19"/>
          <p:cNvSpPr/>
          <p:nvPr/>
        </p:nvSpPr>
        <p:spPr>
          <a:xfrm>
            <a:off x="4681728" y="1225296"/>
            <a:ext cx="2084832" cy="658368"/>
          </a:xfrm>
          <a:prstGeom prst="rect">
            <a:avLst/>
          </a:prstGeom>
          <a:noFill/>
          <a:ln/>
        </p:spPr>
        <p:txBody>
          <a:bodyPr wrap="square" rtlCol="0" anchor="ctr"/>
          <a:lstStyle/>
          <a:p>
            <a:pPr algn="ctr" indent="0" marL="0">
              <a:buNone/>
            </a:pPr>
            <a:r>
              <a:rPr lang="en-US" sz="2400" b="1" dirty="0">
                <a:solidFill>
                  <a:srgbClr val="00C853"/>
                </a:solidFill>
                <a:latin typeface="Arial" pitchFamily="34" charset="0"/>
                <a:ea typeface="Arial" pitchFamily="34" charset="-122"/>
                <a:cs typeface="Arial" pitchFamily="34" charset="-120"/>
              </a:rPr>
              <a:t>3 roles</a:t>
            </a:r>
            <a:endParaRPr lang="en-US" sz="2400" dirty="0"/>
          </a:p>
        </p:txBody>
      </p:sp>
      <p:sp>
        <p:nvSpPr>
          <p:cNvPr id="22" name="Text 20"/>
          <p:cNvSpPr/>
          <p:nvPr/>
        </p:nvSpPr>
        <p:spPr>
          <a:xfrm>
            <a:off x="4681728" y="1883664"/>
            <a:ext cx="2084832" cy="365760"/>
          </a:xfrm>
          <a:prstGeom prst="rect">
            <a:avLst/>
          </a:prstGeom>
          <a:noFill/>
          <a:ln/>
        </p:spPr>
        <p:txBody>
          <a:bodyPr wrap="square" rtlCol="0" anchor="ctr"/>
          <a:lstStyle/>
          <a:p>
            <a:pPr algn="ctr" indent="0" marL="0">
              <a:buNone/>
            </a:pPr>
            <a:r>
              <a:rPr lang="en-US" sz="800" dirty="0">
                <a:solidFill>
                  <a:srgbClr val="B0BEC5"/>
                </a:solidFill>
                <a:latin typeface="Arial" pitchFamily="34" charset="0"/>
                <a:ea typeface="Arial" pitchFamily="34" charset="-122"/>
                <a:cs typeface="Arial" pitchFamily="34" charset="-120"/>
              </a:rPr>
              <a:t>Pod Agéntico</a:t>
            </a:r>
            <a:endParaRPr lang="en-US" sz="800" dirty="0"/>
          </a:p>
        </p:txBody>
      </p:sp>
      <p:sp>
        <p:nvSpPr>
          <p:cNvPr id="23" name="Shape 21"/>
          <p:cNvSpPr/>
          <p:nvPr/>
        </p:nvSpPr>
        <p:spPr>
          <a:xfrm>
            <a:off x="6894576" y="1170432"/>
            <a:ext cx="2084832" cy="1133856"/>
          </a:xfrm>
          <a:prstGeom prst="roundRect">
            <a:avLst>
              <a:gd name="adj" fmla="val 6452"/>
            </a:avLst>
          </a:prstGeom>
          <a:solidFill>
            <a:srgbClr val="1E0D4A"/>
          </a:solidFill>
          <a:ln w="19050">
            <a:solidFill>
              <a:srgbClr val="5F1EBE"/>
            </a:solidFill>
            <a:prstDash val="solid"/>
          </a:ln>
        </p:spPr>
      </p:sp>
      <p:sp>
        <p:nvSpPr>
          <p:cNvPr id="24" name="Text 22"/>
          <p:cNvSpPr/>
          <p:nvPr/>
        </p:nvSpPr>
        <p:spPr>
          <a:xfrm>
            <a:off x="6894576" y="1225296"/>
            <a:ext cx="2084832" cy="658368"/>
          </a:xfrm>
          <a:prstGeom prst="rect">
            <a:avLst/>
          </a:prstGeom>
          <a:noFill/>
          <a:ln/>
        </p:spPr>
        <p:txBody>
          <a:bodyPr wrap="square" rtlCol="0" anchor="ctr"/>
          <a:lstStyle/>
          <a:p>
            <a:pPr algn="ctr" indent="0" marL="0">
              <a:buNone/>
            </a:pPr>
            <a:r>
              <a:rPr lang="en-US" sz="2400" b="1" dirty="0">
                <a:solidFill>
                  <a:srgbClr val="5F1EBE"/>
                </a:solidFill>
                <a:latin typeface="Arial" pitchFamily="34" charset="0"/>
                <a:ea typeface="Arial" pitchFamily="34" charset="-122"/>
                <a:cs typeface="Arial" pitchFamily="34" charset="-120"/>
              </a:rPr>
              <a:t>+3–5 días</a:t>
            </a:r>
            <a:endParaRPr lang="en-US" sz="2400" dirty="0"/>
          </a:p>
        </p:txBody>
      </p:sp>
      <p:sp>
        <p:nvSpPr>
          <p:cNvPr id="25" name="Text 23"/>
          <p:cNvSpPr/>
          <p:nvPr/>
        </p:nvSpPr>
        <p:spPr>
          <a:xfrm>
            <a:off x="6894576" y="1883664"/>
            <a:ext cx="2084832" cy="365760"/>
          </a:xfrm>
          <a:prstGeom prst="rect">
            <a:avLst/>
          </a:prstGeom>
          <a:noFill/>
          <a:ln/>
        </p:spPr>
        <p:txBody>
          <a:bodyPr wrap="square" rtlCol="0" anchor="ctr"/>
          <a:lstStyle/>
          <a:p>
            <a:pPr algn="ctr" indent="0" marL="0">
              <a:buNone/>
            </a:pPr>
            <a:r>
              <a:rPr lang="en-US" sz="800" dirty="0">
                <a:solidFill>
                  <a:srgbClr val="B0BEC5"/>
                </a:solidFill>
                <a:latin typeface="Arial" pitchFamily="34" charset="0"/>
                <a:ea typeface="Arial" pitchFamily="34" charset="-122"/>
                <a:cs typeface="Arial" pitchFamily="34" charset="-120"/>
              </a:rPr>
              <a:t>Contingencia</a:t>
            </a:r>
            <a:endParaRPr lang="en-US" sz="800" dirty="0"/>
          </a:p>
        </p:txBody>
      </p:sp>
      <p:sp>
        <p:nvSpPr>
          <p:cNvPr id="26" name="Shape 24"/>
          <p:cNvSpPr/>
          <p:nvPr/>
        </p:nvSpPr>
        <p:spPr>
          <a:xfrm>
            <a:off x="256032" y="2432304"/>
            <a:ext cx="6766560" cy="237744"/>
          </a:xfrm>
          <a:prstGeom prst="rect">
            <a:avLst/>
          </a:prstGeom>
          <a:solidFill>
            <a:srgbClr val="5F1EBE"/>
          </a:solidFill>
          <a:ln w="12700">
            <a:solidFill>
              <a:srgbClr val="5F1EBE"/>
            </a:solidFill>
            <a:prstDash val="solid"/>
          </a:ln>
        </p:spPr>
      </p:sp>
      <p:sp>
        <p:nvSpPr>
          <p:cNvPr id="27" name="Text 25"/>
          <p:cNvSpPr/>
          <p:nvPr/>
        </p:nvSpPr>
        <p:spPr>
          <a:xfrm>
            <a:off x="329184" y="2432304"/>
            <a:ext cx="5029200" cy="237744"/>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Área de Trabajo</a:t>
            </a:r>
            <a:endParaRPr lang="en-US" sz="850" dirty="0"/>
          </a:p>
        </p:txBody>
      </p:sp>
      <p:sp>
        <p:nvSpPr>
          <p:cNvPr id="28" name="Text 26"/>
          <p:cNvSpPr/>
          <p:nvPr/>
        </p:nvSpPr>
        <p:spPr>
          <a:xfrm>
            <a:off x="5394960" y="2432304"/>
            <a:ext cx="1554480" cy="237744"/>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Peso</a:t>
            </a:r>
            <a:endParaRPr lang="en-US" sz="850" dirty="0"/>
          </a:p>
        </p:txBody>
      </p:sp>
      <p:sp>
        <p:nvSpPr>
          <p:cNvPr id="29" name="Shape 27"/>
          <p:cNvSpPr/>
          <p:nvPr/>
        </p:nvSpPr>
        <p:spPr>
          <a:xfrm>
            <a:off x="256032" y="2688336"/>
            <a:ext cx="6766560" cy="256032"/>
          </a:xfrm>
          <a:prstGeom prst="rect">
            <a:avLst/>
          </a:prstGeom>
          <a:solidFill>
            <a:srgbClr val="1E0D4A"/>
          </a:solidFill>
          <a:ln w="12700">
            <a:solidFill>
              <a:srgbClr val="1E0D4A"/>
            </a:solidFill>
            <a:prstDash val="solid"/>
          </a:ln>
        </p:spPr>
      </p:sp>
      <p:sp>
        <p:nvSpPr>
          <p:cNvPr id="30" name="Text 28"/>
          <p:cNvSpPr/>
          <p:nvPr/>
        </p:nvSpPr>
        <p:spPr>
          <a:xfrm>
            <a:off x="329184" y="2706624"/>
            <a:ext cx="4974336"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Gravel track — entorno, base de datos, CI/CD</a:t>
            </a:r>
            <a:endParaRPr lang="en-US" sz="800" dirty="0"/>
          </a:p>
        </p:txBody>
      </p:sp>
      <p:sp>
        <p:nvSpPr>
          <p:cNvPr id="31" name="Text 29"/>
          <p:cNvSpPr/>
          <p:nvPr/>
        </p:nvSpPr>
        <p:spPr>
          <a:xfrm>
            <a:off x="5394960" y="2706624"/>
            <a:ext cx="1554480" cy="219456"/>
          </a:xfrm>
          <a:prstGeom prst="rect">
            <a:avLst/>
          </a:prstGeom>
          <a:noFill/>
          <a:ln/>
        </p:spPr>
        <p:txBody>
          <a:bodyPr wrap="square" rtlCol="0" anchor="ctr"/>
          <a:lstStyle/>
          <a:p>
            <a:pPr algn="ctr" indent="0" marL="0">
              <a:buNone/>
            </a:pPr>
            <a:r>
              <a:rPr lang="en-US" sz="800" dirty="0">
                <a:solidFill>
                  <a:srgbClr val="8CC8FA"/>
                </a:solidFill>
                <a:latin typeface="Arial" pitchFamily="34" charset="0"/>
                <a:ea typeface="Arial" pitchFamily="34" charset="-122"/>
                <a:cs typeface="Arial" pitchFamily="34" charset="-120"/>
              </a:rPr>
              <a:t>Medio</a:t>
            </a:r>
            <a:endParaRPr lang="en-US" sz="800" dirty="0"/>
          </a:p>
        </p:txBody>
      </p:sp>
      <p:sp>
        <p:nvSpPr>
          <p:cNvPr id="32" name="Shape 30"/>
          <p:cNvSpPr/>
          <p:nvPr/>
        </p:nvSpPr>
        <p:spPr>
          <a:xfrm>
            <a:off x="256032" y="2962656"/>
            <a:ext cx="6766560" cy="256032"/>
          </a:xfrm>
          <a:prstGeom prst="rect">
            <a:avLst/>
          </a:prstGeom>
          <a:solidFill>
            <a:srgbClr val="2D1870"/>
          </a:solidFill>
          <a:ln w="12700">
            <a:solidFill>
              <a:srgbClr val="1E0D4A"/>
            </a:solidFill>
            <a:prstDash val="solid"/>
          </a:ln>
        </p:spPr>
      </p:sp>
      <p:sp>
        <p:nvSpPr>
          <p:cNvPr id="33" name="Text 31"/>
          <p:cNvSpPr/>
          <p:nvPr/>
        </p:nvSpPr>
        <p:spPr>
          <a:xfrm>
            <a:off x="329184" y="2980944"/>
            <a:ext cx="4974336"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Módulo Financiero — presupuesto, cash flow, conciliación, contabilidad</a:t>
            </a:r>
            <a:endParaRPr lang="en-US" sz="800" dirty="0"/>
          </a:p>
        </p:txBody>
      </p:sp>
      <p:sp>
        <p:nvSpPr>
          <p:cNvPr id="34" name="Text 32"/>
          <p:cNvSpPr/>
          <p:nvPr/>
        </p:nvSpPr>
        <p:spPr>
          <a:xfrm>
            <a:off x="5394960" y="2980944"/>
            <a:ext cx="1554480" cy="219456"/>
          </a:xfrm>
          <a:prstGeom prst="rect">
            <a:avLst/>
          </a:prstGeom>
          <a:noFill/>
          <a:ln/>
        </p:spPr>
        <p:txBody>
          <a:bodyPr wrap="square" rtlCol="0" anchor="ctr"/>
          <a:lstStyle/>
          <a:p>
            <a:pPr algn="ctr" indent="0" marL="0">
              <a:buNone/>
            </a:pPr>
            <a:r>
              <a:rPr lang="en-US" sz="800" dirty="0">
                <a:solidFill>
                  <a:srgbClr val="FFA726"/>
                </a:solidFill>
                <a:latin typeface="Arial" pitchFamily="34" charset="0"/>
                <a:ea typeface="Arial" pitchFamily="34" charset="-122"/>
                <a:cs typeface="Arial" pitchFamily="34" charset="-120"/>
              </a:rPr>
              <a:t>Alto</a:t>
            </a:r>
            <a:endParaRPr lang="en-US" sz="800" dirty="0"/>
          </a:p>
        </p:txBody>
      </p:sp>
      <p:sp>
        <p:nvSpPr>
          <p:cNvPr id="35" name="Shape 33"/>
          <p:cNvSpPr/>
          <p:nvPr/>
        </p:nvSpPr>
        <p:spPr>
          <a:xfrm>
            <a:off x="256032" y="3236976"/>
            <a:ext cx="6766560" cy="256032"/>
          </a:xfrm>
          <a:prstGeom prst="rect">
            <a:avLst/>
          </a:prstGeom>
          <a:solidFill>
            <a:srgbClr val="1E0D4A"/>
          </a:solidFill>
          <a:ln w="12700">
            <a:solidFill>
              <a:srgbClr val="1E0D4A"/>
            </a:solidFill>
            <a:prstDash val="solid"/>
          </a:ln>
        </p:spPr>
      </p:sp>
      <p:sp>
        <p:nvSpPr>
          <p:cNvPr id="36" name="Text 34"/>
          <p:cNvSpPr/>
          <p:nvPr/>
        </p:nvSpPr>
        <p:spPr>
          <a:xfrm>
            <a:off x="329184" y="3255264"/>
            <a:ext cx="4974336"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Módulo de Cobros — planes de pago, notificaciones, escalación</a:t>
            </a:r>
            <a:endParaRPr lang="en-US" sz="800" dirty="0"/>
          </a:p>
        </p:txBody>
      </p:sp>
      <p:sp>
        <p:nvSpPr>
          <p:cNvPr id="37" name="Text 35"/>
          <p:cNvSpPr/>
          <p:nvPr/>
        </p:nvSpPr>
        <p:spPr>
          <a:xfrm>
            <a:off x="5394960" y="3255264"/>
            <a:ext cx="1554480" cy="219456"/>
          </a:xfrm>
          <a:prstGeom prst="rect">
            <a:avLst/>
          </a:prstGeom>
          <a:noFill/>
          <a:ln/>
        </p:spPr>
        <p:txBody>
          <a:bodyPr wrap="square" rtlCol="0" anchor="ctr"/>
          <a:lstStyle/>
          <a:p>
            <a:pPr algn="ctr" indent="0" marL="0">
              <a:buNone/>
            </a:pPr>
            <a:r>
              <a:rPr lang="en-US" sz="800" dirty="0">
                <a:solidFill>
                  <a:srgbClr val="FFA726"/>
                </a:solidFill>
                <a:latin typeface="Arial" pitchFamily="34" charset="0"/>
                <a:ea typeface="Arial" pitchFamily="34" charset="-122"/>
                <a:cs typeface="Arial" pitchFamily="34" charset="-120"/>
              </a:rPr>
              <a:t>Alto</a:t>
            </a:r>
            <a:endParaRPr lang="en-US" sz="800" dirty="0"/>
          </a:p>
        </p:txBody>
      </p:sp>
      <p:sp>
        <p:nvSpPr>
          <p:cNvPr id="38" name="Shape 36"/>
          <p:cNvSpPr/>
          <p:nvPr/>
        </p:nvSpPr>
        <p:spPr>
          <a:xfrm>
            <a:off x="256032" y="3511296"/>
            <a:ext cx="6766560" cy="256032"/>
          </a:xfrm>
          <a:prstGeom prst="rect">
            <a:avLst/>
          </a:prstGeom>
          <a:solidFill>
            <a:srgbClr val="2D1870"/>
          </a:solidFill>
          <a:ln w="12700">
            <a:solidFill>
              <a:srgbClr val="1E0D4A"/>
            </a:solidFill>
            <a:prstDash val="solid"/>
          </a:ln>
        </p:spPr>
      </p:sp>
      <p:sp>
        <p:nvSpPr>
          <p:cNvPr id="39" name="Text 37"/>
          <p:cNvSpPr/>
          <p:nvPr/>
        </p:nvSpPr>
        <p:spPr>
          <a:xfrm>
            <a:off x="329184" y="3529584"/>
            <a:ext cx="4974336"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Dashboards — cola del oficial, portal gerencial, estados financieros</a:t>
            </a:r>
            <a:endParaRPr lang="en-US" sz="800" dirty="0"/>
          </a:p>
        </p:txBody>
      </p:sp>
      <p:sp>
        <p:nvSpPr>
          <p:cNvPr id="40" name="Text 38"/>
          <p:cNvSpPr/>
          <p:nvPr/>
        </p:nvSpPr>
        <p:spPr>
          <a:xfrm>
            <a:off x="5394960" y="3529584"/>
            <a:ext cx="1554480" cy="219456"/>
          </a:xfrm>
          <a:prstGeom prst="rect">
            <a:avLst/>
          </a:prstGeom>
          <a:noFill/>
          <a:ln/>
        </p:spPr>
        <p:txBody>
          <a:bodyPr wrap="square" rtlCol="0" anchor="ctr"/>
          <a:lstStyle/>
          <a:p>
            <a:pPr algn="ctr" indent="0" marL="0">
              <a:buNone/>
            </a:pPr>
            <a:r>
              <a:rPr lang="en-US" sz="800" dirty="0">
                <a:solidFill>
                  <a:srgbClr val="FFA726"/>
                </a:solidFill>
                <a:latin typeface="Arial" pitchFamily="34" charset="0"/>
                <a:ea typeface="Arial" pitchFamily="34" charset="-122"/>
                <a:cs typeface="Arial" pitchFamily="34" charset="-120"/>
              </a:rPr>
              <a:t>Alto</a:t>
            </a:r>
            <a:endParaRPr lang="en-US" sz="800" dirty="0"/>
          </a:p>
        </p:txBody>
      </p:sp>
      <p:sp>
        <p:nvSpPr>
          <p:cNvPr id="41" name="Shape 39"/>
          <p:cNvSpPr/>
          <p:nvPr/>
        </p:nvSpPr>
        <p:spPr>
          <a:xfrm>
            <a:off x="256032" y="3785616"/>
            <a:ext cx="6766560" cy="256032"/>
          </a:xfrm>
          <a:prstGeom prst="rect">
            <a:avLst/>
          </a:prstGeom>
          <a:solidFill>
            <a:srgbClr val="1E0D4A"/>
          </a:solidFill>
          <a:ln w="12700">
            <a:solidFill>
              <a:srgbClr val="1E0D4A"/>
            </a:solidFill>
            <a:prstDash val="solid"/>
          </a:ln>
        </p:spPr>
      </p:sp>
      <p:sp>
        <p:nvSpPr>
          <p:cNvPr id="42" name="Text 40"/>
          <p:cNvSpPr/>
          <p:nvPr/>
        </p:nvSpPr>
        <p:spPr>
          <a:xfrm>
            <a:off x="329184" y="3803904"/>
            <a:ext cx="4974336"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Integraciones — parser bancario, WhatsApp, correo, PDF/Excel</a:t>
            </a:r>
            <a:endParaRPr lang="en-US" sz="800" dirty="0"/>
          </a:p>
        </p:txBody>
      </p:sp>
      <p:sp>
        <p:nvSpPr>
          <p:cNvPr id="43" name="Text 41"/>
          <p:cNvSpPr/>
          <p:nvPr/>
        </p:nvSpPr>
        <p:spPr>
          <a:xfrm>
            <a:off x="5394960" y="3803904"/>
            <a:ext cx="1554480" cy="219456"/>
          </a:xfrm>
          <a:prstGeom prst="rect">
            <a:avLst/>
          </a:prstGeom>
          <a:noFill/>
          <a:ln/>
        </p:spPr>
        <p:txBody>
          <a:bodyPr wrap="square" rtlCol="0" anchor="ctr"/>
          <a:lstStyle/>
          <a:p>
            <a:pPr algn="ctr" indent="0" marL="0">
              <a:buNone/>
            </a:pPr>
            <a:r>
              <a:rPr lang="en-US" sz="800" dirty="0">
                <a:solidFill>
                  <a:srgbClr val="8CC8FA"/>
                </a:solidFill>
                <a:latin typeface="Arial" pitchFamily="34" charset="0"/>
                <a:ea typeface="Arial" pitchFamily="34" charset="-122"/>
                <a:cs typeface="Arial" pitchFamily="34" charset="-120"/>
              </a:rPr>
              <a:t>Medio</a:t>
            </a:r>
            <a:endParaRPr lang="en-US" sz="800" dirty="0"/>
          </a:p>
        </p:txBody>
      </p:sp>
      <p:sp>
        <p:nvSpPr>
          <p:cNvPr id="44" name="Shape 42"/>
          <p:cNvSpPr/>
          <p:nvPr/>
        </p:nvSpPr>
        <p:spPr>
          <a:xfrm>
            <a:off x="256032" y="4059936"/>
            <a:ext cx="6766560" cy="256032"/>
          </a:xfrm>
          <a:prstGeom prst="rect">
            <a:avLst/>
          </a:prstGeom>
          <a:solidFill>
            <a:srgbClr val="2D1870"/>
          </a:solidFill>
          <a:ln w="12700">
            <a:solidFill>
              <a:srgbClr val="1E0D4A"/>
            </a:solidFill>
            <a:prstDash val="solid"/>
          </a:ln>
        </p:spPr>
      </p:sp>
      <p:sp>
        <p:nvSpPr>
          <p:cNvPr id="45" name="Text 43"/>
          <p:cNvSpPr/>
          <p:nvPr/>
        </p:nvSpPr>
        <p:spPr>
          <a:xfrm>
            <a:off x="329184" y="4078224"/>
            <a:ext cx="4974336" cy="219456"/>
          </a:xfrm>
          <a:prstGeom prst="rect">
            <a:avLst/>
          </a:prstGeom>
          <a:noFill/>
          <a:ln/>
        </p:spPr>
        <p:txBody>
          <a:bodyPr wrap="square" rtlCol="0" anchor="ctr"/>
          <a:lstStyle/>
          <a:p>
            <a:pPr indent="0" marL="0">
              <a:buNone/>
            </a:pPr>
            <a:r>
              <a:rPr lang="en-US" sz="800" dirty="0">
                <a:solidFill>
                  <a:srgbClr val="B0BEC5"/>
                </a:solidFill>
                <a:latin typeface="Arial" pitchFamily="34" charset="0"/>
                <a:ea typeface="Arial" pitchFamily="34" charset="-122"/>
                <a:cs typeface="Arial" pitchFamily="34" charset="-120"/>
              </a:rPr>
              <a:t>Validación, pruebas, revisión SME, preparación del demo</a:t>
            </a:r>
            <a:endParaRPr lang="en-US" sz="800" dirty="0"/>
          </a:p>
        </p:txBody>
      </p:sp>
      <p:sp>
        <p:nvSpPr>
          <p:cNvPr id="46" name="Text 44"/>
          <p:cNvSpPr/>
          <p:nvPr/>
        </p:nvSpPr>
        <p:spPr>
          <a:xfrm>
            <a:off x="5394960" y="4078224"/>
            <a:ext cx="1554480" cy="219456"/>
          </a:xfrm>
          <a:prstGeom prst="rect">
            <a:avLst/>
          </a:prstGeom>
          <a:noFill/>
          <a:ln/>
        </p:spPr>
        <p:txBody>
          <a:bodyPr wrap="square" rtlCol="0" anchor="ctr"/>
          <a:lstStyle/>
          <a:p>
            <a:pPr algn="ctr" indent="0" marL="0">
              <a:buNone/>
            </a:pPr>
            <a:r>
              <a:rPr lang="en-US" sz="800" dirty="0">
                <a:solidFill>
                  <a:srgbClr val="FFA726"/>
                </a:solidFill>
                <a:latin typeface="Arial" pitchFamily="34" charset="0"/>
                <a:ea typeface="Arial" pitchFamily="34" charset="-122"/>
                <a:cs typeface="Arial" pitchFamily="34" charset="-120"/>
              </a:rPr>
              <a:t>Alto</a:t>
            </a:r>
            <a:endParaRPr lang="en-US" sz="800" dirty="0"/>
          </a:p>
        </p:txBody>
      </p:sp>
      <p:sp>
        <p:nvSpPr>
          <p:cNvPr id="47" name="Shape 45"/>
          <p:cNvSpPr/>
          <p:nvPr/>
        </p:nvSpPr>
        <p:spPr>
          <a:xfrm>
            <a:off x="256032" y="4334256"/>
            <a:ext cx="6766560" cy="274320"/>
          </a:xfrm>
          <a:prstGeom prst="rect">
            <a:avLst/>
          </a:prstGeom>
          <a:solidFill>
            <a:srgbClr val="3D2490"/>
          </a:solidFill>
          <a:ln w="10160">
            <a:solidFill>
              <a:srgbClr val="FFA726"/>
            </a:solidFill>
            <a:prstDash val="solid"/>
          </a:ln>
        </p:spPr>
      </p:sp>
      <p:sp>
        <p:nvSpPr>
          <p:cNvPr id="48" name="Text 46"/>
          <p:cNvSpPr/>
          <p:nvPr/>
        </p:nvSpPr>
        <p:spPr>
          <a:xfrm>
            <a:off x="329184" y="4352544"/>
            <a:ext cx="4974336" cy="23774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Línea Base Recomendada — MVP</a:t>
            </a:r>
            <a:endParaRPr lang="en-US" sz="900" dirty="0"/>
          </a:p>
        </p:txBody>
      </p:sp>
      <p:sp>
        <p:nvSpPr>
          <p:cNvPr id="49" name="Text 47"/>
          <p:cNvSpPr/>
          <p:nvPr/>
        </p:nvSpPr>
        <p:spPr>
          <a:xfrm>
            <a:off x="5394960" y="4352544"/>
            <a:ext cx="1554480" cy="237744"/>
          </a:xfrm>
          <a:prstGeom prst="rect">
            <a:avLst/>
          </a:prstGeom>
          <a:noFill/>
          <a:ln/>
        </p:spPr>
        <p:txBody>
          <a:bodyPr wrap="square" rtlCol="0" anchor="ctr"/>
          <a:lstStyle/>
          <a:p>
            <a:pPr algn="ctr" indent="0" marL="0">
              <a:buNone/>
            </a:pPr>
            <a:r>
              <a:rPr lang="en-US" sz="900" b="1" dirty="0">
                <a:solidFill>
                  <a:srgbClr val="FFA726"/>
                </a:solidFill>
                <a:latin typeface="Arial" pitchFamily="34" charset="0"/>
                <a:ea typeface="Arial" pitchFamily="34" charset="-122"/>
                <a:cs typeface="Arial" pitchFamily="34" charset="-120"/>
              </a:rPr>
              <a:t>14–18 días de pod</a:t>
            </a:r>
            <a:endParaRPr lang="en-US" sz="900" dirty="0"/>
          </a:p>
        </p:txBody>
      </p:sp>
      <p:sp>
        <p:nvSpPr>
          <p:cNvPr id="50" name="Text 48"/>
          <p:cNvSpPr/>
          <p:nvPr/>
        </p:nvSpPr>
        <p:spPr>
          <a:xfrm>
            <a:off x="256032" y="4663440"/>
            <a:ext cx="8631936" cy="164592"/>
          </a:xfrm>
          <a:prstGeom prst="rect">
            <a:avLst/>
          </a:prstGeom>
          <a:noFill/>
          <a:ln/>
        </p:spPr>
        <p:txBody>
          <a:bodyPr wrap="square" rtlCol="0" anchor="ctr"/>
          <a:lstStyle/>
          <a:p>
            <a:pPr indent="0" marL="0">
              <a:buNone/>
            </a:pPr>
            <a:r>
              <a:rPr lang="en-US" sz="700" i="1" dirty="0">
                <a:solidFill>
                  <a:srgbClr val="7B90A8"/>
                </a:solidFill>
                <a:latin typeface="Arial" pitchFamily="34" charset="0"/>
                <a:ea typeface="Arial" pitchFamily="34" charset="-122"/>
                <a:cs typeface="Arial" pitchFamily="34" charset="-120"/>
              </a:rPr>
              <a:t>Base ROM: una ruta de Solución MVP acotada · unidad comercial pod agéntico · no es un compromiso de producción final</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0A2A"/>
        </a:solidFill>
      </p:bgPr>
    </p:bg>
    <p:spTree>
      <p:nvGrpSpPr>
        <p:cNvPr id="1" name=""/>
        <p:cNvGrpSpPr/>
        <p:nvPr/>
      </p:nvGrpSpPr>
      <p:grpSpPr>
        <a:xfrm>
          <a:off x="0" y="0"/>
          <a:ext cx="0" cy="0"/>
          <a:chOff x="0" y="0"/>
          <a:chExt cx="0" cy="0"/>
        </a:xfrm>
      </p:grpSpPr>
      <p:sp>
        <p:nvSpPr>
          <p:cNvPr id="2" name="Text 0"/>
          <p:cNvSpPr/>
          <p:nvPr/>
        </p:nvSpPr>
        <p:spPr>
          <a:xfrm>
            <a:off x="256032" y="128016"/>
            <a:ext cx="1463040" cy="310896"/>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HCL</a:t>
            </a:r>
            <a:pPr indent="0" marL="0">
              <a:buNone/>
            </a:pPr>
            <a:r>
              <a:rPr lang="en-US" sz="1600" b="1" dirty="0">
                <a:solidFill>
                  <a:srgbClr val="8C69F0"/>
                </a:solidFill>
                <a:latin typeface="Arial" pitchFamily="34" charset="0"/>
                <a:ea typeface="Arial" pitchFamily="34" charset="-122"/>
                <a:cs typeface="Arial" pitchFamily="34" charset="-120"/>
              </a:rPr>
              <a:t>Tech</a:t>
            </a:r>
            <a:endParaRPr lang="en-US" sz="1600" dirty="0"/>
          </a:p>
        </p:txBody>
      </p:sp>
      <p:sp>
        <p:nvSpPr>
          <p:cNvPr id="3" name="Text 1"/>
          <p:cNvSpPr/>
          <p:nvPr/>
        </p:nvSpPr>
        <p:spPr>
          <a:xfrm>
            <a:off x="1664208" y="128016"/>
            <a:ext cx="2743200" cy="310896"/>
          </a:xfrm>
          <a:prstGeom prst="rect">
            <a:avLst/>
          </a:prstGeom>
          <a:noFill/>
          <a:ln/>
        </p:spPr>
        <p:txBody>
          <a:bodyPr wrap="square" rtlCol="0" anchor="ctr"/>
          <a:lstStyle/>
          <a:p>
            <a:pPr indent="0" marL="0">
              <a:buNone/>
            </a:pPr>
            <a:r>
              <a:rPr lang="en-US" sz="800" dirty="0">
                <a:solidFill>
                  <a:srgbClr val="B9C8FF"/>
                </a:solidFill>
                <a:latin typeface="Arial" pitchFamily="34" charset="0"/>
                <a:ea typeface="Arial" pitchFamily="34" charset="-122"/>
                <a:cs typeface="Arial" pitchFamily="34" charset="-120"/>
              </a:rPr>
              <a:t>| Supercharging Progress™</a:t>
            </a:r>
            <a:endParaRPr lang="en-US" sz="800" dirty="0"/>
          </a:p>
        </p:txBody>
      </p:sp>
      <p:sp>
        <p:nvSpPr>
          <p:cNvPr id="4" name="Shape 2"/>
          <p:cNvSpPr/>
          <p:nvPr/>
        </p:nvSpPr>
        <p:spPr>
          <a:xfrm>
            <a:off x="256032" y="512064"/>
            <a:ext cx="50292" cy="585216"/>
          </a:xfrm>
          <a:prstGeom prst="rect">
            <a:avLst/>
          </a:prstGeom>
          <a:solidFill>
            <a:srgbClr val="5F1EBE"/>
          </a:solidFill>
          <a:ln w="12700">
            <a:solidFill>
              <a:srgbClr val="5F1EBE"/>
            </a:solidFill>
            <a:prstDash val="solid"/>
          </a:ln>
        </p:spPr>
      </p:sp>
      <p:sp>
        <p:nvSpPr>
          <p:cNvPr id="5" name="Text 3"/>
          <p:cNvSpPr/>
          <p:nvPr/>
        </p:nvSpPr>
        <p:spPr>
          <a:xfrm>
            <a:off x="365760" y="493776"/>
            <a:ext cx="8412480" cy="384048"/>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Supuestos de Trabajo y Decisiones Pendientes</a:t>
            </a:r>
            <a:endParaRPr lang="en-US" sz="2200" dirty="0"/>
          </a:p>
        </p:txBody>
      </p:sp>
      <p:sp>
        <p:nvSpPr>
          <p:cNvPr id="6" name="Text 4"/>
          <p:cNvSpPr/>
          <p:nvPr/>
        </p:nvSpPr>
        <p:spPr>
          <a:xfrm>
            <a:off x="365760" y="896112"/>
            <a:ext cx="8412480" cy="201168"/>
          </a:xfrm>
          <a:prstGeom prst="rect">
            <a:avLst/>
          </a:prstGeom>
          <a:noFill/>
          <a:ln/>
        </p:spPr>
        <p:txBody>
          <a:bodyPr wrap="square" rtlCol="0" anchor="ctr"/>
          <a:lstStyle/>
          <a:p>
            <a:pPr indent="0" marL="0">
              <a:buNone/>
            </a:pPr>
            <a:r>
              <a:rPr lang="en-US" sz="1000" i="1" dirty="0">
                <a:solidFill>
                  <a:srgbClr val="8C69F0"/>
                </a:solidFill>
                <a:latin typeface="Arial" pitchFamily="34" charset="0"/>
                <a:ea typeface="Arial" pitchFamily="34" charset="-122"/>
                <a:cs typeface="Arial" pitchFamily="34" charset="-120"/>
              </a:rPr>
              <a:t>Ítems a confirmar antes de iniciar la planificación del sprint MVP</a:t>
            </a:r>
            <a:endParaRPr lang="en-US" sz="1000" dirty="0"/>
          </a:p>
        </p:txBody>
      </p:sp>
      <p:sp>
        <p:nvSpPr>
          <p:cNvPr id="7" name="Shape 5"/>
          <p:cNvSpPr/>
          <p:nvPr/>
        </p:nvSpPr>
        <p:spPr>
          <a:xfrm>
            <a:off x="0" y="4974336"/>
            <a:ext cx="9144000" cy="173736"/>
          </a:xfrm>
          <a:prstGeom prst="rect">
            <a:avLst/>
          </a:prstGeom>
          <a:solidFill>
            <a:srgbClr val="1E0D4A"/>
          </a:solidFill>
          <a:ln w="12700">
            <a:solidFill>
              <a:srgbClr val="1E0D4A"/>
            </a:solidFill>
            <a:prstDash val="solid"/>
          </a:ln>
        </p:spPr>
      </p:sp>
      <p:sp>
        <p:nvSpPr>
          <p:cNvPr id="8" name="Shape 6"/>
          <p:cNvSpPr/>
          <p:nvPr/>
        </p:nvSpPr>
        <p:spPr>
          <a:xfrm>
            <a:off x="0" y="4969764"/>
            <a:ext cx="3017520" cy="10973"/>
          </a:xfrm>
          <a:prstGeom prst="rect">
            <a:avLst/>
          </a:prstGeom>
          <a:solidFill>
            <a:srgbClr val="5F1EBE"/>
          </a:solidFill>
          <a:ln w="12700">
            <a:solidFill>
              <a:srgbClr val="5F1EBE"/>
            </a:solidFill>
            <a:prstDash val="solid"/>
          </a:ln>
        </p:spPr>
      </p:sp>
      <p:sp>
        <p:nvSpPr>
          <p:cNvPr id="9" name="Shape 7"/>
          <p:cNvSpPr/>
          <p:nvPr/>
        </p:nvSpPr>
        <p:spPr>
          <a:xfrm>
            <a:off x="3017520" y="4969764"/>
            <a:ext cx="3108960" cy="10973"/>
          </a:xfrm>
          <a:prstGeom prst="rect">
            <a:avLst/>
          </a:prstGeom>
          <a:solidFill>
            <a:srgbClr val="0F5FDC"/>
          </a:solidFill>
          <a:ln w="12700">
            <a:solidFill>
              <a:srgbClr val="0F5FDC"/>
            </a:solidFill>
            <a:prstDash val="solid"/>
          </a:ln>
        </p:spPr>
      </p:sp>
      <p:sp>
        <p:nvSpPr>
          <p:cNvPr id="10" name="Shape 8"/>
          <p:cNvSpPr/>
          <p:nvPr/>
        </p:nvSpPr>
        <p:spPr>
          <a:xfrm>
            <a:off x="6126480" y="4969764"/>
            <a:ext cx="3017520" cy="10973"/>
          </a:xfrm>
          <a:prstGeom prst="rect">
            <a:avLst/>
          </a:prstGeom>
          <a:solidFill>
            <a:srgbClr val="8C69F0"/>
          </a:solidFill>
          <a:ln w="12700">
            <a:solidFill>
              <a:srgbClr val="8C69F0"/>
            </a:solidFill>
            <a:prstDash val="solid"/>
          </a:ln>
        </p:spPr>
      </p:sp>
      <p:sp>
        <p:nvSpPr>
          <p:cNvPr id="11" name="Text 9"/>
          <p:cNvSpPr/>
          <p:nvPr/>
        </p:nvSpPr>
        <p:spPr>
          <a:xfrm>
            <a:off x="201168" y="4983480"/>
            <a:ext cx="274320" cy="164592"/>
          </a:xfrm>
          <a:prstGeom prst="rect">
            <a:avLst/>
          </a:prstGeom>
          <a:noFill/>
          <a:ln/>
        </p:spPr>
        <p:txBody>
          <a:bodyPr wrap="square" rtlCol="0" anchor="ctr"/>
          <a:lstStyle/>
          <a:p>
            <a:pPr indent="0" marL="0">
              <a:buNone/>
            </a:pPr>
            <a:r>
              <a:rPr lang="en-US" sz="700" dirty="0">
                <a:solidFill>
                  <a:srgbClr val="7B90A8"/>
                </a:solidFill>
                <a:latin typeface="Arial" pitchFamily="34" charset="0"/>
                <a:ea typeface="Arial" pitchFamily="34" charset="-122"/>
                <a:cs typeface="Arial" pitchFamily="34" charset="-120"/>
              </a:rPr>
              <a:t>13</a:t>
            </a:r>
            <a:endParaRPr lang="en-US" sz="700" dirty="0"/>
          </a:p>
        </p:txBody>
      </p:sp>
      <p:sp>
        <p:nvSpPr>
          <p:cNvPr id="12" name="Text 10"/>
          <p:cNvSpPr/>
          <p:nvPr/>
        </p:nvSpPr>
        <p:spPr>
          <a:xfrm>
            <a:off x="530352" y="4983480"/>
            <a:ext cx="4572000" cy="164592"/>
          </a:xfrm>
          <a:prstGeom prst="rect">
            <a:avLst/>
          </a:prstGeom>
          <a:noFill/>
          <a:ln/>
        </p:spPr>
        <p:txBody>
          <a:bodyPr wrap="square" rtlCol="0" anchor="ctr"/>
          <a:lstStyle/>
          <a:p>
            <a:pPr indent="0" marL="0">
              <a:buNone/>
            </a:pPr>
            <a:r>
              <a:rPr lang="en-US" sz="650" dirty="0">
                <a:solidFill>
                  <a:srgbClr val="7B90A8"/>
                </a:solidFill>
                <a:latin typeface="Arial" pitchFamily="34" charset="0"/>
                <a:ea typeface="Arial" pitchFamily="34" charset="-122"/>
                <a:cs typeface="Arial" pitchFamily="34" charset="-120"/>
              </a:rPr>
              <a:t>Copyright © 2026 HCLTech  |  Confidencial</a:t>
            </a:r>
            <a:endParaRPr lang="en-US" sz="650" dirty="0"/>
          </a:p>
        </p:txBody>
      </p:sp>
      <p:sp>
        <p:nvSpPr>
          <p:cNvPr id="13" name="Text 11"/>
          <p:cNvSpPr/>
          <p:nvPr/>
        </p:nvSpPr>
        <p:spPr>
          <a:xfrm>
            <a:off x="8092440" y="4974336"/>
            <a:ext cx="914400" cy="173736"/>
          </a:xfrm>
          <a:prstGeom prst="rect">
            <a:avLst/>
          </a:prstGeom>
          <a:noFill/>
          <a:ln/>
        </p:spPr>
        <p:txBody>
          <a:bodyPr wrap="square" rtlCol="0" anchor="ctr"/>
          <a:lstStyle/>
          <a:p>
            <a:pPr algn="r" indent="0" marL="0">
              <a:buNone/>
            </a:pPr>
            <a:r>
              <a:rPr lang="en-US" sz="1100" b="1" dirty="0">
                <a:solidFill>
                  <a:srgbClr val="0F5FDC"/>
                </a:solidFill>
                <a:latin typeface="Arial" pitchFamily="34" charset="0"/>
                <a:ea typeface="Arial" pitchFamily="34" charset="-122"/>
                <a:cs typeface="Arial" pitchFamily="34" charset="-120"/>
              </a:rPr>
              <a:t>HCL</a:t>
            </a:r>
            <a:pPr algn="r" indent="0" marL="0">
              <a:buNone/>
            </a:pPr>
            <a:r>
              <a:rPr lang="en-US" sz="1100" b="1" dirty="0">
                <a:solidFill>
                  <a:srgbClr val="5F1EBE"/>
                </a:solidFill>
                <a:latin typeface="Arial" pitchFamily="34" charset="0"/>
                <a:ea typeface="Arial" pitchFamily="34" charset="-122"/>
                <a:cs typeface="Arial" pitchFamily="34" charset="-120"/>
              </a:rPr>
              <a:t>Tech</a:t>
            </a:r>
            <a:endParaRPr lang="en-US" sz="1100" dirty="0"/>
          </a:p>
        </p:txBody>
      </p:sp>
      <p:sp>
        <p:nvSpPr>
          <p:cNvPr id="14" name="Shape 12"/>
          <p:cNvSpPr/>
          <p:nvPr/>
        </p:nvSpPr>
        <p:spPr>
          <a:xfrm>
            <a:off x="256032" y="1170432"/>
            <a:ext cx="4059936" cy="274320"/>
          </a:xfrm>
          <a:prstGeom prst="rect">
            <a:avLst/>
          </a:prstGeom>
          <a:solidFill>
            <a:srgbClr val="1E0D4A"/>
          </a:solidFill>
          <a:ln w="15240">
            <a:solidFill>
              <a:srgbClr val="00C853"/>
            </a:solidFill>
            <a:prstDash val="solid"/>
          </a:ln>
        </p:spPr>
      </p:sp>
      <p:sp>
        <p:nvSpPr>
          <p:cNvPr id="15" name="Shape 13"/>
          <p:cNvSpPr/>
          <p:nvPr/>
        </p:nvSpPr>
        <p:spPr>
          <a:xfrm>
            <a:off x="256032" y="1170432"/>
            <a:ext cx="54864" cy="274320"/>
          </a:xfrm>
          <a:prstGeom prst="rect">
            <a:avLst/>
          </a:prstGeom>
          <a:solidFill>
            <a:srgbClr val="00C853"/>
          </a:solidFill>
          <a:ln w="12700">
            <a:solidFill>
              <a:srgbClr val="00C853"/>
            </a:solidFill>
            <a:prstDash val="solid"/>
          </a:ln>
        </p:spPr>
      </p:sp>
      <p:sp>
        <p:nvSpPr>
          <p:cNvPr id="16" name="Text 14"/>
          <p:cNvSpPr/>
          <p:nvPr/>
        </p:nvSpPr>
        <p:spPr>
          <a:xfrm>
            <a:off x="365760" y="1170432"/>
            <a:ext cx="3877056" cy="274320"/>
          </a:xfrm>
          <a:prstGeom prst="rect">
            <a:avLst/>
          </a:prstGeom>
          <a:noFill/>
          <a:ln/>
        </p:spPr>
        <p:txBody>
          <a:bodyPr wrap="square" rtlCol="0" anchor="ctr"/>
          <a:lstStyle/>
          <a:p>
            <a:pPr indent="0" marL="0">
              <a:buNone/>
            </a:pPr>
            <a:r>
              <a:rPr lang="en-US" sz="900" b="1" dirty="0">
                <a:solidFill>
                  <a:srgbClr val="00C853"/>
                </a:solidFill>
                <a:latin typeface="Arial" pitchFamily="34" charset="0"/>
                <a:ea typeface="Arial" pitchFamily="34" charset="-122"/>
                <a:cs typeface="Arial" pitchFamily="34" charset="-120"/>
              </a:rPr>
              <a:t>Supuestos Confirmados</a:t>
            </a:r>
            <a:endParaRPr lang="en-US" sz="900" dirty="0"/>
          </a:p>
        </p:txBody>
      </p:sp>
      <p:sp>
        <p:nvSpPr>
          <p:cNvPr id="17" name="Shape 15"/>
          <p:cNvSpPr/>
          <p:nvPr/>
        </p:nvSpPr>
        <p:spPr>
          <a:xfrm>
            <a:off x="256032" y="1481328"/>
            <a:ext cx="4059936" cy="457200"/>
          </a:xfrm>
          <a:prstGeom prst="rect">
            <a:avLst/>
          </a:prstGeom>
          <a:solidFill>
            <a:srgbClr val="1E0D4A"/>
          </a:solidFill>
          <a:ln w="12700">
            <a:solidFill>
              <a:srgbClr val="1E0D4A"/>
            </a:solidFill>
            <a:prstDash val="solid"/>
          </a:ln>
        </p:spPr>
      </p:sp>
      <p:sp>
        <p:nvSpPr>
          <p:cNvPr id="18" name="Text 16"/>
          <p:cNvSpPr/>
          <p:nvPr/>
        </p:nvSpPr>
        <p:spPr>
          <a:xfrm>
            <a:off x="347472" y="1508760"/>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Extractos bancarios disponibles como descarga CSV/TXT de Banco Popular (netbanking)</a:t>
            </a:r>
            <a:endParaRPr lang="en-US" sz="850" dirty="0"/>
          </a:p>
        </p:txBody>
      </p:sp>
      <p:sp>
        <p:nvSpPr>
          <p:cNvPr id="19" name="Shape 17"/>
          <p:cNvSpPr/>
          <p:nvPr/>
        </p:nvSpPr>
        <p:spPr>
          <a:xfrm>
            <a:off x="256032" y="1956816"/>
            <a:ext cx="4059936" cy="457200"/>
          </a:xfrm>
          <a:prstGeom prst="rect">
            <a:avLst/>
          </a:prstGeom>
          <a:solidFill>
            <a:srgbClr val="2D1870"/>
          </a:solidFill>
          <a:ln w="12700">
            <a:solidFill>
              <a:srgbClr val="1E0D4A"/>
            </a:solidFill>
            <a:prstDash val="solid"/>
          </a:ln>
        </p:spPr>
      </p:sp>
      <p:sp>
        <p:nvSpPr>
          <p:cNvPr id="20" name="Text 18"/>
          <p:cNvSpPr/>
          <p:nvPr/>
        </p:nvSpPr>
        <p:spPr>
          <a:xfrm>
            <a:off x="347472" y="1984248"/>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Un solo número de WhatsApp Business para todos los proyectos (recomendado por HCLTech)</a:t>
            </a:r>
            <a:endParaRPr lang="en-US" sz="850" dirty="0"/>
          </a:p>
        </p:txBody>
      </p:sp>
      <p:sp>
        <p:nvSpPr>
          <p:cNvPr id="21" name="Shape 19"/>
          <p:cNvSpPr/>
          <p:nvPr/>
        </p:nvSpPr>
        <p:spPr>
          <a:xfrm>
            <a:off x="256032" y="2432304"/>
            <a:ext cx="4059936" cy="457200"/>
          </a:xfrm>
          <a:prstGeom prst="rect">
            <a:avLst/>
          </a:prstGeom>
          <a:solidFill>
            <a:srgbClr val="1E0D4A"/>
          </a:solidFill>
          <a:ln w="12700">
            <a:solidFill>
              <a:srgbClr val="1E0D4A"/>
            </a:solidFill>
            <a:prstDash val="solid"/>
          </a:ln>
        </p:spPr>
      </p:sp>
      <p:sp>
        <p:nvSpPr>
          <p:cNvPr id="22" name="Text 20"/>
          <p:cNvSpPr/>
          <p:nvPr/>
        </p:nvSpPr>
        <p:spPr>
          <a:xfrm>
            <a:off x="347472" y="2459736"/>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Correo enviado desde dominio compartido (cobros@dupedesa.com) via SendGrid</a:t>
            </a:r>
            <a:endParaRPr lang="en-US" sz="850" dirty="0"/>
          </a:p>
        </p:txBody>
      </p:sp>
      <p:sp>
        <p:nvSpPr>
          <p:cNvPr id="23" name="Shape 21"/>
          <p:cNvSpPr/>
          <p:nvPr/>
        </p:nvSpPr>
        <p:spPr>
          <a:xfrm>
            <a:off x="256032" y="2907792"/>
            <a:ext cx="4059936" cy="457200"/>
          </a:xfrm>
          <a:prstGeom prst="rect">
            <a:avLst/>
          </a:prstGeom>
          <a:solidFill>
            <a:srgbClr val="2D1870"/>
          </a:solidFill>
          <a:ln w="12700">
            <a:solidFill>
              <a:srgbClr val="1E0D4A"/>
            </a:solidFill>
            <a:prstDash val="solid"/>
          </a:ln>
        </p:spPr>
      </p:sp>
      <p:sp>
        <p:nvSpPr>
          <p:cNvPr id="24" name="Text 22"/>
          <p:cNvSpPr/>
          <p:nvPr/>
        </p:nvSpPr>
        <p:spPr>
          <a:xfrm>
            <a:off x="347472" y="2935224"/>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Plan de cuentas definido por HCLTech; aprobado por gerencia en Semana 1</a:t>
            </a:r>
            <a:endParaRPr lang="en-US" sz="850" dirty="0"/>
          </a:p>
        </p:txBody>
      </p:sp>
      <p:sp>
        <p:nvSpPr>
          <p:cNvPr id="25" name="Shape 23"/>
          <p:cNvSpPr/>
          <p:nvPr/>
        </p:nvSpPr>
        <p:spPr>
          <a:xfrm>
            <a:off x="256032" y="3383280"/>
            <a:ext cx="4059936" cy="457200"/>
          </a:xfrm>
          <a:prstGeom prst="rect">
            <a:avLst/>
          </a:prstGeom>
          <a:solidFill>
            <a:srgbClr val="1E0D4A"/>
          </a:solidFill>
          <a:ln w="12700">
            <a:solidFill>
              <a:srgbClr val="1E0D4A"/>
            </a:solidFill>
            <a:prstDash val="solid"/>
          </a:ln>
        </p:spPr>
      </p:sp>
      <p:sp>
        <p:nvSpPr>
          <p:cNvPr id="26" name="Text 24"/>
          <p:cNvSpPr/>
          <p:nvPr/>
        </p:nvSpPr>
        <p:spPr>
          <a:xfrm>
            <a:off x="347472" y="3410712"/>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MVP alcanza solo proyectos de interés social (RD$); proyectos turísticos (USD) en Piloto</a:t>
            </a:r>
            <a:endParaRPr lang="en-US" sz="850" dirty="0"/>
          </a:p>
        </p:txBody>
      </p:sp>
      <p:sp>
        <p:nvSpPr>
          <p:cNvPr id="27" name="Shape 25"/>
          <p:cNvSpPr/>
          <p:nvPr/>
        </p:nvSpPr>
        <p:spPr>
          <a:xfrm>
            <a:off x="256032" y="3858768"/>
            <a:ext cx="4059936" cy="457200"/>
          </a:xfrm>
          <a:prstGeom prst="rect">
            <a:avLst/>
          </a:prstGeom>
          <a:solidFill>
            <a:srgbClr val="2D1870"/>
          </a:solidFill>
          <a:ln w="12700">
            <a:solidFill>
              <a:srgbClr val="1E0D4A"/>
            </a:solidFill>
            <a:prstDash val="solid"/>
          </a:ln>
        </p:spPr>
      </p:sp>
      <p:sp>
        <p:nvSpPr>
          <p:cNvPr id="28" name="Text 26"/>
          <p:cNvSpPr/>
          <p:nvPr/>
        </p:nvSpPr>
        <p:spPr>
          <a:xfrm>
            <a:off x="347472" y="3886200"/>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Avance físico de obra ingresado manualmente como % por la gerencia</a:t>
            </a:r>
            <a:endParaRPr lang="en-US" sz="850" dirty="0"/>
          </a:p>
        </p:txBody>
      </p:sp>
      <p:sp>
        <p:nvSpPr>
          <p:cNvPr id="29" name="Shape 27"/>
          <p:cNvSpPr/>
          <p:nvPr/>
        </p:nvSpPr>
        <p:spPr>
          <a:xfrm>
            <a:off x="4773168" y="1170432"/>
            <a:ext cx="4059936" cy="274320"/>
          </a:xfrm>
          <a:prstGeom prst="rect">
            <a:avLst/>
          </a:prstGeom>
          <a:solidFill>
            <a:srgbClr val="1E0D4A"/>
          </a:solidFill>
          <a:ln w="15240">
            <a:solidFill>
              <a:srgbClr val="FFA726"/>
            </a:solidFill>
            <a:prstDash val="solid"/>
          </a:ln>
        </p:spPr>
      </p:sp>
      <p:sp>
        <p:nvSpPr>
          <p:cNvPr id="30" name="Shape 28"/>
          <p:cNvSpPr/>
          <p:nvPr/>
        </p:nvSpPr>
        <p:spPr>
          <a:xfrm>
            <a:off x="4773168" y="1170432"/>
            <a:ext cx="54864" cy="274320"/>
          </a:xfrm>
          <a:prstGeom prst="rect">
            <a:avLst/>
          </a:prstGeom>
          <a:solidFill>
            <a:srgbClr val="FFA726"/>
          </a:solidFill>
          <a:ln w="12700">
            <a:solidFill>
              <a:srgbClr val="FFA726"/>
            </a:solidFill>
            <a:prstDash val="solid"/>
          </a:ln>
        </p:spPr>
      </p:sp>
      <p:sp>
        <p:nvSpPr>
          <p:cNvPr id="31" name="Text 29"/>
          <p:cNvSpPr/>
          <p:nvPr/>
        </p:nvSpPr>
        <p:spPr>
          <a:xfrm>
            <a:off x="4882896" y="1170432"/>
            <a:ext cx="3877056" cy="274320"/>
          </a:xfrm>
          <a:prstGeom prst="rect">
            <a:avLst/>
          </a:prstGeom>
          <a:noFill/>
          <a:ln/>
        </p:spPr>
        <p:txBody>
          <a:bodyPr wrap="square" rtlCol="0" anchor="ctr"/>
          <a:lstStyle/>
          <a:p>
            <a:pPr indent="0" marL="0">
              <a:buNone/>
            </a:pPr>
            <a:r>
              <a:rPr lang="en-US" sz="900" b="1" dirty="0">
                <a:solidFill>
                  <a:srgbClr val="FFA726"/>
                </a:solidFill>
                <a:latin typeface="Arial" pitchFamily="34" charset="0"/>
                <a:ea typeface="Arial" pitchFamily="34" charset="-122"/>
                <a:cs typeface="Arial" pitchFamily="34" charset="-120"/>
              </a:rPr>
              <a:t>Decisiones Pendientes</a:t>
            </a:r>
            <a:endParaRPr lang="en-US" sz="900" dirty="0"/>
          </a:p>
        </p:txBody>
      </p:sp>
      <p:sp>
        <p:nvSpPr>
          <p:cNvPr id="32" name="Shape 30"/>
          <p:cNvSpPr/>
          <p:nvPr/>
        </p:nvSpPr>
        <p:spPr>
          <a:xfrm>
            <a:off x="4773168" y="1481328"/>
            <a:ext cx="4059936" cy="457200"/>
          </a:xfrm>
          <a:prstGeom prst="rect">
            <a:avLst/>
          </a:prstGeom>
          <a:solidFill>
            <a:srgbClr val="1E0D4A"/>
          </a:solidFill>
          <a:ln w="12700">
            <a:solidFill>
              <a:srgbClr val="1E0D4A"/>
            </a:solidFill>
            <a:prstDash val="solid"/>
          </a:ln>
        </p:spPr>
      </p:sp>
      <p:sp>
        <p:nvSpPr>
          <p:cNvPr id="33" name="Text 31"/>
          <p:cNvSpPr/>
          <p:nvPr/>
        </p:nvSpPr>
        <p:spPr>
          <a:xfrm>
            <a:off x="4864608" y="1508760"/>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Proporcionar archivo de extracto real de Banco Popular (Día 1 del proyecto)</a:t>
            </a:r>
            <a:endParaRPr lang="en-US" sz="850" dirty="0"/>
          </a:p>
        </p:txBody>
      </p:sp>
      <p:sp>
        <p:nvSpPr>
          <p:cNvPr id="34" name="Shape 32"/>
          <p:cNvSpPr/>
          <p:nvPr/>
        </p:nvSpPr>
        <p:spPr>
          <a:xfrm>
            <a:off x="4773168" y="1956816"/>
            <a:ext cx="4059936" cy="457200"/>
          </a:xfrm>
          <a:prstGeom prst="rect">
            <a:avLst/>
          </a:prstGeom>
          <a:solidFill>
            <a:srgbClr val="2D1870"/>
          </a:solidFill>
          <a:ln w="12700">
            <a:solidFill>
              <a:srgbClr val="1E0D4A"/>
            </a:solidFill>
            <a:prstDash val="solid"/>
          </a:ln>
        </p:spPr>
      </p:sp>
      <p:sp>
        <p:nvSpPr>
          <p:cNvPr id="35" name="Text 33"/>
          <p:cNvSpPr/>
          <p:nvPr/>
        </p:nvSpPr>
        <p:spPr>
          <a:xfrm>
            <a:off x="4864608" y="1984248"/>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Registrar cuenta de WhatsApp Business con Meta — iniciar INMEDIATAMENTE</a:t>
            </a:r>
            <a:endParaRPr lang="en-US" sz="850" dirty="0"/>
          </a:p>
        </p:txBody>
      </p:sp>
      <p:sp>
        <p:nvSpPr>
          <p:cNvPr id="36" name="Shape 34"/>
          <p:cNvSpPr/>
          <p:nvPr/>
        </p:nvSpPr>
        <p:spPr>
          <a:xfrm>
            <a:off x="4773168" y="2432304"/>
            <a:ext cx="4059936" cy="457200"/>
          </a:xfrm>
          <a:prstGeom prst="rect">
            <a:avLst/>
          </a:prstGeom>
          <a:solidFill>
            <a:srgbClr val="1E0D4A"/>
          </a:solidFill>
          <a:ln w="12700">
            <a:solidFill>
              <a:srgbClr val="1E0D4A"/>
            </a:solidFill>
            <a:prstDash val="solid"/>
          </a:ln>
        </p:spPr>
      </p:sp>
      <p:sp>
        <p:nvSpPr>
          <p:cNvPr id="37" name="Text 35"/>
          <p:cNvSpPr/>
          <p:nvPr/>
        </p:nvSpPr>
        <p:spPr>
          <a:xfrm>
            <a:off x="4864608" y="2459736"/>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¿Alcance del MVP: solo interés social o también turístico (USD)?</a:t>
            </a:r>
            <a:endParaRPr lang="en-US" sz="850" dirty="0"/>
          </a:p>
        </p:txBody>
      </p:sp>
      <p:sp>
        <p:nvSpPr>
          <p:cNvPr id="38" name="Shape 36"/>
          <p:cNvSpPr/>
          <p:nvPr/>
        </p:nvSpPr>
        <p:spPr>
          <a:xfrm>
            <a:off x="4773168" y="2907792"/>
            <a:ext cx="4059936" cy="457200"/>
          </a:xfrm>
          <a:prstGeom prst="rect">
            <a:avLst/>
          </a:prstGeom>
          <a:solidFill>
            <a:srgbClr val="2D1870"/>
          </a:solidFill>
          <a:ln w="12700">
            <a:solidFill>
              <a:srgbClr val="1E0D4A"/>
            </a:solidFill>
            <a:prstDash val="solid"/>
          </a:ln>
        </p:spPr>
      </p:sp>
      <p:sp>
        <p:nvSpPr>
          <p:cNvPr id="39" name="Text 37"/>
          <p:cNvSpPr/>
          <p:nvPr/>
        </p:nvSpPr>
        <p:spPr>
          <a:xfrm>
            <a:off x="4864608" y="2935224"/>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¿Quién aprueba el plan de pagos al registrar una venta?</a:t>
            </a:r>
            <a:endParaRPr lang="en-US" sz="850" dirty="0"/>
          </a:p>
        </p:txBody>
      </p:sp>
      <p:sp>
        <p:nvSpPr>
          <p:cNvPr id="40" name="Shape 38"/>
          <p:cNvSpPr/>
          <p:nvPr/>
        </p:nvSpPr>
        <p:spPr>
          <a:xfrm>
            <a:off x="4773168" y="3383280"/>
            <a:ext cx="4059936" cy="457200"/>
          </a:xfrm>
          <a:prstGeom prst="rect">
            <a:avLst/>
          </a:prstGeom>
          <a:solidFill>
            <a:srgbClr val="1E0D4A"/>
          </a:solidFill>
          <a:ln w="12700">
            <a:solidFill>
              <a:srgbClr val="1E0D4A"/>
            </a:solidFill>
            <a:prstDash val="solid"/>
          </a:ln>
        </p:spPr>
      </p:sp>
      <p:sp>
        <p:nvSpPr>
          <p:cNvPr id="41" name="Text 39"/>
          <p:cNvSpPr/>
          <p:nvPr/>
        </p:nvSpPr>
        <p:spPr>
          <a:xfrm>
            <a:off x="4864608" y="3410712"/>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¿Notificación a firma de abogados automática o manual en Día +16?</a:t>
            </a:r>
            <a:endParaRPr lang="en-US" sz="850" dirty="0"/>
          </a:p>
        </p:txBody>
      </p:sp>
      <p:sp>
        <p:nvSpPr>
          <p:cNvPr id="42" name="Shape 40"/>
          <p:cNvSpPr/>
          <p:nvPr/>
        </p:nvSpPr>
        <p:spPr>
          <a:xfrm>
            <a:off x="4773168" y="3858768"/>
            <a:ext cx="4059936" cy="457200"/>
          </a:xfrm>
          <a:prstGeom prst="rect">
            <a:avLst/>
          </a:prstGeom>
          <a:solidFill>
            <a:srgbClr val="2D1870"/>
          </a:solidFill>
          <a:ln w="12700">
            <a:solidFill>
              <a:srgbClr val="1E0D4A"/>
            </a:solidFill>
            <a:prstDash val="solid"/>
          </a:ln>
        </p:spPr>
      </p:sp>
      <p:sp>
        <p:nvSpPr>
          <p:cNvPr id="43" name="Text 41"/>
          <p:cNvSpPr/>
          <p:nvPr/>
        </p:nvSpPr>
        <p:spPr>
          <a:xfrm>
            <a:off x="4864608" y="3886200"/>
            <a:ext cx="3895344" cy="402336"/>
          </a:xfrm>
          <a:prstGeom prst="rect">
            <a:avLst/>
          </a:prstGeom>
          <a:noFill/>
          <a:ln/>
        </p:spPr>
        <p:txBody>
          <a:bodyPr wrap="square" rtlCol="0" anchor="ctr"/>
          <a:lstStyle/>
          <a:p>
            <a:pPr indent="0" marL="0">
              <a:buNone/>
            </a:pPr>
            <a:r>
              <a:rPr lang="en-US" sz="850" dirty="0">
                <a:solidFill>
                  <a:srgbClr val="B0BEC5"/>
                </a:solidFill>
                <a:latin typeface="Arial" pitchFamily="34" charset="0"/>
                <a:ea typeface="Arial" pitchFamily="34" charset="-122"/>
                <a:cs typeface="Arial" pitchFamily="34" charset="-120"/>
              </a:rPr>
              <a:t>◆  ¿Entorno cloud: HCLTech-provisto o cuenta propia de DUPE?</a:t>
            </a:r>
            <a:endParaRPr lang="en-US" sz="850" dirty="0"/>
          </a:p>
        </p:txBody>
      </p:sp>
      <p:sp>
        <p:nvSpPr>
          <p:cNvPr id="44" name="Shape 42"/>
          <p:cNvSpPr/>
          <p:nvPr/>
        </p:nvSpPr>
        <p:spPr>
          <a:xfrm>
            <a:off x="256032" y="4517136"/>
            <a:ext cx="8631936" cy="219456"/>
          </a:xfrm>
          <a:prstGeom prst="rect">
            <a:avLst/>
          </a:prstGeom>
          <a:solidFill>
            <a:srgbClr val="2D1870"/>
          </a:solidFill>
          <a:ln w="10160">
            <a:solidFill>
              <a:srgbClr val="5F1EBE"/>
            </a:solidFill>
            <a:prstDash val="solid"/>
          </a:ln>
        </p:spPr>
      </p:sp>
      <p:sp>
        <p:nvSpPr>
          <p:cNvPr id="45" name="Text 43"/>
          <p:cNvSpPr/>
          <p:nvPr/>
        </p:nvSpPr>
        <p:spPr>
          <a:xfrm>
            <a:off x="347472" y="4535424"/>
            <a:ext cx="8449056" cy="182880"/>
          </a:xfrm>
          <a:prstGeom prst="rect">
            <a:avLst/>
          </a:prstGeom>
          <a:noFill/>
          <a:ln/>
        </p:spPr>
        <p:txBody>
          <a:bodyPr wrap="square" rtlCol="0" anchor="ctr"/>
          <a:lstStyle/>
          <a:p>
            <a:pPr indent="0" marL="0">
              <a:buNone/>
            </a:pPr>
            <a:r>
              <a:rPr lang="en-US" sz="750" i="1" dirty="0">
                <a:solidFill>
                  <a:srgbClr val="B9C8FF"/>
                </a:solidFill>
                <a:latin typeface="Arial" pitchFamily="34" charset="0"/>
                <a:ea typeface="Arial" pitchFamily="34" charset="-122"/>
                <a:cs typeface="Arial" pitchFamily="34" charset="-120"/>
              </a:rPr>
              <a:t>Próximo Paso: Confirmar el alcance · designar el representante de DUPE · agendar el kick-off del MVP · iniciar registro de WhatsApp Business  ·  Jose Paulino · jose.paulino@hcltech.com</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HCLTech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DUPE Desarrollos Inmobiliarios — Plataforma Agéntica de Negocios</dc:title>
  <dc:subject>PptxGenJS Presentation</dc:subject>
  <dc:creator>HCLTech AI Labs</dc:creator>
  <cp:lastModifiedBy>HCLTech AI Labs</cp:lastModifiedBy>
  <cp:revision>1</cp:revision>
  <dcterms:created xsi:type="dcterms:W3CDTF">2026-06-19T14:36:41Z</dcterms:created>
  <dcterms:modified xsi:type="dcterms:W3CDTF">2026-06-19T14:36:41Z</dcterms:modified>
</cp:coreProperties>
</file>